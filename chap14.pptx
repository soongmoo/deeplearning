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</p:sldMasterIdLst>
  <p:notesMasterIdLst>
    <p:notesMasterId r:id="rId51"/>
  </p:notesMasterIdLst>
  <p:handoutMasterIdLst>
    <p:handoutMasterId r:id="rId52"/>
  </p:handoutMasterIdLst>
  <p:sldIdLst>
    <p:sldId id="267" r:id="rId3"/>
    <p:sldId id="270" r:id="rId4"/>
    <p:sldId id="272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325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4" r:id="rId30"/>
    <p:sldId id="305" r:id="rId31"/>
    <p:sldId id="306" r:id="rId32"/>
    <p:sldId id="307" r:id="rId33"/>
    <p:sldId id="308" r:id="rId34"/>
    <p:sldId id="309" r:id="rId35"/>
    <p:sldId id="310" r:id="rId36"/>
    <p:sldId id="311" r:id="rId37"/>
    <p:sldId id="312" r:id="rId38"/>
    <p:sldId id="313" r:id="rId39"/>
    <p:sldId id="314" r:id="rId40"/>
    <p:sldId id="315" r:id="rId41"/>
    <p:sldId id="316" r:id="rId42"/>
    <p:sldId id="317" r:id="rId43"/>
    <p:sldId id="318" r:id="rId44"/>
    <p:sldId id="319" r:id="rId45"/>
    <p:sldId id="320" r:id="rId46"/>
    <p:sldId id="321" r:id="rId47"/>
    <p:sldId id="322" r:id="rId48"/>
    <p:sldId id="323" r:id="rId49"/>
    <p:sldId id="324" r:id="rId50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07">
          <p15:clr>
            <a:srgbClr val="A4A3A4"/>
          </p15:clr>
        </p15:guide>
        <p15:guide id="3" pos="2916">
          <p15:clr>
            <a:srgbClr val="A4A3A4"/>
          </p15:clr>
        </p15:guide>
        <p15:guide id="4" pos="2481">
          <p15:clr>
            <a:srgbClr val="A4A3A4"/>
          </p15:clr>
        </p15:guide>
        <p15:guide id="5" pos="2372">
          <p15:clr>
            <a:srgbClr val="A4A3A4"/>
          </p15:clr>
        </p15:guide>
        <p15:guide id="6" pos="2045">
          <p15:clr>
            <a:srgbClr val="A4A3A4"/>
          </p15:clr>
        </p15:guide>
        <p15:guide id="7" pos="1937">
          <p15:clr>
            <a:srgbClr val="A4A3A4"/>
          </p15:clr>
        </p15:guide>
        <p15:guide id="8" pos="1610">
          <p15:clr>
            <a:srgbClr val="A4A3A4"/>
          </p15:clr>
        </p15:guide>
        <p15:guide id="9" pos="1501">
          <p15:clr>
            <a:srgbClr val="A4A3A4"/>
          </p15:clr>
        </p15:guide>
        <p15:guide id="10" pos="1174">
          <p15:clr>
            <a:srgbClr val="A4A3A4"/>
          </p15:clr>
        </p15:guide>
        <p15:guide id="11" pos="1066">
          <p15:clr>
            <a:srgbClr val="A4A3A4"/>
          </p15:clr>
        </p15:guide>
        <p15:guide id="12" pos="739">
          <p15:clr>
            <a:srgbClr val="A4A3A4"/>
          </p15:clr>
        </p15:guide>
        <p15:guide id="13" pos="630">
          <p15:clr>
            <a:srgbClr val="A4A3A4"/>
          </p15:clr>
        </p15:guide>
        <p15:guide id="14" pos="304">
          <p15:clr>
            <a:srgbClr val="A4A3A4"/>
          </p15:clr>
        </p15:guide>
        <p15:guide id="15" pos="267">
          <p15:clr>
            <a:srgbClr val="A4A3A4"/>
          </p15:clr>
        </p15:guide>
        <p15:guide id="16" pos="3352">
          <p15:clr>
            <a:srgbClr val="A4A3A4"/>
          </p15:clr>
        </p15:guide>
        <p15:guide id="17" pos="3243">
          <p15:clr>
            <a:srgbClr val="A4A3A4"/>
          </p15:clr>
        </p15:guide>
        <p15:guide id="18" pos="3678">
          <p15:clr>
            <a:srgbClr val="A4A3A4"/>
          </p15:clr>
        </p15:guide>
        <p15:guide id="19" pos="3787">
          <p15:clr>
            <a:srgbClr val="A4A3A4"/>
          </p15:clr>
        </p15:guide>
        <p15:guide id="20" pos="4114">
          <p15:clr>
            <a:srgbClr val="A4A3A4"/>
          </p15:clr>
        </p15:guide>
        <p15:guide id="21" pos="4223">
          <p15:clr>
            <a:srgbClr val="A4A3A4"/>
          </p15:clr>
        </p15:guide>
        <p15:guide id="22" pos="4549">
          <p15:clr>
            <a:srgbClr val="A4A3A4"/>
          </p15:clr>
        </p15:guide>
        <p15:guide id="23" pos="4658">
          <p15:clr>
            <a:srgbClr val="A4A3A4"/>
          </p15:clr>
        </p15:guide>
        <p15:guide id="24" pos="4985">
          <p15:clr>
            <a:srgbClr val="A4A3A4"/>
          </p15:clr>
        </p15:guide>
        <p15:guide id="25" pos="5420">
          <p15:clr>
            <a:srgbClr val="A4A3A4"/>
          </p15:clr>
        </p15:guide>
        <p15:guide id="26" pos="5094">
          <p15:clr>
            <a:srgbClr val="A4A3A4"/>
          </p15:clr>
        </p15:guide>
        <p15:guide id="27" pos="5456">
          <p15:clr>
            <a:srgbClr val="A4A3A4"/>
          </p15:clr>
        </p15:guide>
        <p15:guide id="2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B5B8"/>
    <a:srgbClr val="37C9CD"/>
    <a:srgbClr val="59D2D5"/>
    <a:srgbClr val="E06361"/>
    <a:srgbClr val="75B77D"/>
    <a:srgbClr val="A3CFA8"/>
    <a:srgbClr val="8D9DD8"/>
    <a:srgbClr val="FEF7DB"/>
    <a:srgbClr val="FEDBF7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423" autoAdjust="0"/>
  </p:normalViewPr>
  <p:slideViewPr>
    <p:cSldViewPr showGuides="1">
      <p:cViewPr varScale="1">
        <p:scale>
          <a:sx n="85" d="100"/>
          <a:sy n="85" d="100"/>
        </p:scale>
        <p:origin x="2358" y="39"/>
      </p:cViewPr>
      <p:guideLst>
        <p:guide pos="2807"/>
        <p:guide pos="2916"/>
        <p:guide pos="2481"/>
        <p:guide pos="2372"/>
        <p:guide pos="2045"/>
        <p:guide pos="1937"/>
        <p:guide pos="1610"/>
        <p:guide pos="1501"/>
        <p:guide pos="1174"/>
        <p:guide pos="1066"/>
        <p:guide pos="739"/>
        <p:guide pos="630"/>
        <p:guide pos="304"/>
        <p:guide pos="267"/>
        <p:guide pos="3352"/>
        <p:guide pos="3243"/>
        <p:guide pos="3678"/>
        <p:guide pos="3787"/>
        <p:guide pos="4114"/>
        <p:guide pos="4223"/>
        <p:guide pos="4549"/>
        <p:guide pos="4658"/>
        <p:guide pos="4985"/>
        <p:guide pos="5420"/>
        <p:guide pos="5094"/>
        <p:guide pos="545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941" y="62"/>
      </p:cViewPr>
      <p:guideLst/>
    </p:cSldViewPr>
  </p:notesViewPr>
  <p:gridSpacing cx="57607" cy="57607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B0E63-BBCE-42FA-B3A6-5FD535041784}" type="datetimeFigureOut">
              <a:rPr lang="ko-KR" altLang="en-US" smtClean="0"/>
              <a:pPr/>
              <a:t>2025-06-05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21031-9F3C-4BB5-813E-6F6C294051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50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56D40-764E-476E-B5E6-4049846BDF68}" type="datetimeFigureOut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ADBE4-966B-4F0C-AF81-59D2D1B847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7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58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validation_split</a:t>
            </a:r>
            <a:r>
              <a:rPr lang="en-US" altLang="ko-KR" b="1" dirty="0">
                <a:solidFill>
                  <a:srgbClr val="8250DF"/>
                </a:solidFill>
                <a:effectLst/>
              </a:rPr>
              <a:t>=</a:t>
            </a:r>
            <a:r>
              <a:rPr lang="en-US" altLang="ko-KR" dirty="0">
                <a:solidFill>
                  <a:srgbClr val="1A7F37"/>
                </a:solidFill>
                <a:effectLst/>
              </a:rPr>
              <a:t>0.25</a:t>
            </a:r>
            <a:r>
              <a:rPr lang="ko-KR" altLang="en-US" dirty="0">
                <a:solidFill>
                  <a:srgbClr val="1A7F37"/>
                </a:solidFill>
                <a:effectLst/>
              </a:rPr>
              <a:t>를 확인해보면 지난 시간에는 학습셋과 </a:t>
            </a:r>
            <a:r>
              <a:rPr lang="ko-KR" altLang="en-US" dirty="0" err="1">
                <a:solidFill>
                  <a:srgbClr val="1A7F37"/>
                </a:solidFill>
                <a:effectLst/>
              </a:rPr>
              <a:t>데스트셋으로만</a:t>
            </a:r>
            <a:r>
              <a:rPr lang="ko-KR" altLang="en-US" dirty="0">
                <a:solidFill>
                  <a:srgbClr val="1A7F37"/>
                </a:solidFill>
                <a:effectLst/>
              </a:rPr>
              <a:t> 나눴는데 학습셋을 한번 더 </a:t>
            </a:r>
            <a:r>
              <a:rPr lang="en-US" altLang="ko-KR" dirty="0">
                <a:solidFill>
                  <a:srgbClr val="1A7F37"/>
                </a:solidFill>
                <a:effectLst/>
              </a:rPr>
              <a:t>75 </a:t>
            </a:r>
            <a:r>
              <a:rPr lang="ko-KR" altLang="en-US" dirty="0">
                <a:solidFill>
                  <a:srgbClr val="1A7F37"/>
                </a:solidFill>
                <a:effectLst/>
              </a:rPr>
              <a:t>대 </a:t>
            </a:r>
            <a:r>
              <a:rPr lang="en-US" altLang="ko-KR" dirty="0">
                <a:solidFill>
                  <a:srgbClr val="1A7F37"/>
                </a:solidFill>
                <a:effectLst/>
              </a:rPr>
              <a:t>25</a:t>
            </a:r>
            <a:r>
              <a:rPr lang="ko-KR" altLang="en-US" dirty="0">
                <a:solidFill>
                  <a:srgbClr val="1A7F37"/>
                </a:solidFill>
                <a:effectLst/>
              </a:rPr>
              <a:t>로 나누면 전체의 </a:t>
            </a:r>
            <a:r>
              <a:rPr lang="en-US" altLang="ko-KR" dirty="0">
                <a:solidFill>
                  <a:srgbClr val="1A7F37"/>
                </a:solidFill>
                <a:effectLst/>
              </a:rPr>
              <a:t>60% </a:t>
            </a:r>
            <a:r>
              <a:rPr lang="ko-KR" altLang="en-US" dirty="0">
                <a:solidFill>
                  <a:srgbClr val="1A7F37"/>
                </a:solidFill>
                <a:effectLst/>
              </a:rPr>
              <a:t>와 </a:t>
            </a:r>
            <a:r>
              <a:rPr lang="en-US" altLang="ko-KR" dirty="0">
                <a:solidFill>
                  <a:srgbClr val="1A7F37"/>
                </a:solidFill>
                <a:effectLst/>
              </a:rPr>
              <a:t>20%</a:t>
            </a:r>
            <a:r>
              <a:rPr lang="ko-KR" altLang="en-US" dirty="0">
                <a:solidFill>
                  <a:srgbClr val="1A7F37"/>
                </a:solidFill>
                <a:effectLst/>
              </a:rPr>
              <a:t>로 나눠진다</a:t>
            </a:r>
            <a:r>
              <a:rPr lang="en-US" altLang="ko-KR" dirty="0">
                <a:solidFill>
                  <a:srgbClr val="1A7F37"/>
                </a:solidFill>
                <a:effectLst/>
              </a:rPr>
              <a:t>. </a:t>
            </a:r>
          </a:p>
          <a:p>
            <a:r>
              <a:rPr lang="ko-KR" altLang="en-US" dirty="0"/>
              <a:t>학습을 하면서 얼마나 학습이 잘 되는지 검증을 하기 위해서 사용하며 학습셋을 이용하여 얼마나 잘 학습이 되는 지 검증셋을 이용해서 검증을 한다</a:t>
            </a:r>
            <a:r>
              <a:rPr lang="en-US" altLang="ko-KR" dirty="0"/>
              <a:t>. </a:t>
            </a:r>
            <a:r>
              <a:rPr lang="ko-KR" altLang="en-US" dirty="0"/>
              <a:t>이렇게 학습이</a:t>
            </a:r>
            <a:r>
              <a:rPr lang="en-US" altLang="ko-KR" dirty="0"/>
              <a:t> </a:t>
            </a:r>
            <a:r>
              <a:rPr lang="ko-KR" altLang="en-US" dirty="0"/>
              <a:t>끝나면 얼마나 잘 학습이 되었는지 테스트셋으로 테스트를 하게 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Accuracy(</a:t>
            </a:r>
            <a:r>
              <a:rPr lang="ko-KR" altLang="en-US" dirty="0"/>
              <a:t>정확도</a:t>
            </a:r>
            <a:r>
              <a:rPr lang="en-US" altLang="ko-KR" dirty="0"/>
              <a:t>)</a:t>
            </a:r>
            <a:r>
              <a:rPr lang="ko-KR" altLang="en-US" dirty="0"/>
              <a:t>와  </a:t>
            </a:r>
            <a:r>
              <a:rPr lang="en-US" altLang="ko-KR" dirty="0"/>
              <a:t>loss</a:t>
            </a:r>
            <a:r>
              <a:rPr lang="ko-KR" altLang="en-US" dirty="0"/>
              <a:t> 를 같이 확인해 볼 수 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84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검증셋으로 검증하면서 학습을 한 후에 테스트셋을 이용해서 </a:t>
            </a:r>
            <a:r>
              <a:rPr lang="ko-KR" altLang="en-US" dirty="0" err="1"/>
              <a:t>데스트를</a:t>
            </a:r>
            <a:r>
              <a:rPr lang="ko-KR" altLang="en-US" dirty="0"/>
              <a:t> 해볼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505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BA2121"/>
                </a:solidFill>
                <a:effectLst/>
              </a:rPr>
              <a:t>{epoch:02d}</a:t>
            </a:r>
            <a:r>
              <a:rPr lang="ko-KR" altLang="en-US" dirty="0">
                <a:solidFill>
                  <a:srgbClr val="BA2121"/>
                </a:solidFill>
                <a:effectLst/>
              </a:rPr>
              <a:t>는 </a:t>
            </a:r>
            <a:r>
              <a:rPr lang="ko-KR" altLang="en-US" dirty="0" err="1">
                <a:solidFill>
                  <a:srgbClr val="BA2121"/>
                </a:solidFill>
                <a:effectLst/>
              </a:rPr>
              <a:t>몇번</a:t>
            </a:r>
            <a:r>
              <a:rPr lang="ko-KR" altLang="en-US" dirty="0">
                <a:solidFill>
                  <a:srgbClr val="BA2121"/>
                </a:solidFill>
                <a:effectLst/>
              </a:rPr>
              <a:t> 반복되는지를 정수형태로 반복을 하고 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{val_accuracy:.4f} </a:t>
            </a:r>
            <a:r>
              <a:rPr lang="ko-KR" altLang="en-US" dirty="0">
                <a:solidFill>
                  <a:srgbClr val="BA2121"/>
                </a:solidFill>
                <a:effectLst/>
              </a:rPr>
              <a:t>검증셋의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 </a:t>
            </a:r>
            <a:r>
              <a:rPr lang="ko-KR" altLang="en-US" dirty="0">
                <a:solidFill>
                  <a:srgbClr val="BA2121"/>
                </a:solidFill>
                <a:effectLst/>
              </a:rPr>
              <a:t>정확도를 소수점 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4</a:t>
            </a:r>
            <a:r>
              <a:rPr lang="ko-KR" altLang="en-US" dirty="0">
                <a:solidFill>
                  <a:srgbClr val="BA2121"/>
                </a:solidFill>
                <a:effectLst/>
              </a:rPr>
              <a:t>자리로 표기</a:t>
            </a:r>
            <a:endParaRPr lang="en-US" altLang="ko-KR" dirty="0">
              <a:solidFill>
                <a:srgbClr val="BA2121"/>
              </a:solidFill>
              <a:effectLst/>
            </a:endParaRPr>
          </a:p>
          <a:p>
            <a:endParaRPr lang="en-US" altLang="ko-KR" dirty="0">
              <a:solidFill>
                <a:srgbClr val="BA2121"/>
              </a:solidFill>
              <a:effectLst/>
            </a:endParaRPr>
          </a:p>
          <a:p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ModelCheckpoint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</a:t>
            </a:r>
            <a:r>
              <a:rPr lang="ko-KR" altLang="en-US" dirty="0">
                <a:solidFill>
                  <a:srgbClr val="BA2121"/>
                </a:solidFill>
                <a:effectLst/>
                <a:latin typeface="KoPub돋움체_Pro Light" pitchFamily="18" charset="-127"/>
                <a:ea typeface="KoPub돋움체_Pro Light" pitchFamily="18" charset="-127"/>
              </a:rPr>
              <a:t>는 모델을 체크해서 저장하게 해주는 함수</a:t>
            </a:r>
            <a:endParaRPr lang="en-US" altLang="ko-KR" dirty="0">
              <a:solidFill>
                <a:srgbClr val="BA2121"/>
              </a:solidFill>
              <a:effectLst/>
              <a:latin typeface="KoPub돋움체_Pro Light" pitchFamily="18" charset="-127"/>
              <a:ea typeface="KoPub돋움체_Pro Light" pitchFamily="18" charset="-127"/>
            </a:endParaRPr>
          </a:p>
          <a:p>
            <a:r>
              <a:rPr lang="en-US" altLang="ko-KR" dirty="0"/>
              <a:t>callbacks</a:t>
            </a:r>
            <a:r>
              <a:rPr lang="en-US" altLang="ko-KR" b="1" dirty="0">
                <a:solidFill>
                  <a:srgbClr val="8250DF"/>
                </a:solidFill>
                <a:effectLst/>
              </a:rPr>
              <a:t>=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[</a:t>
            </a:r>
            <a:r>
              <a:rPr lang="en-US" altLang="ko-KR" dirty="0" err="1"/>
              <a:t>checkpointer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]</a:t>
            </a:r>
            <a:r>
              <a:rPr lang="ko-KR" altLang="en-US" dirty="0">
                <a:solidFill>
                  <a:srgbClr val="BA2121"/>
                </a:solidFill>
                <a:effectLst/>
                <a:ea typeface="KoPub돋움체_Pro Light" pitchFamily="18" charset="-127"/>
              </a:rPr>
              <a:t>이라고 해서 </a:t>
            </a:r>
            <a:r>
              <a:rPr lang="en-US" altLang="ko-KR" dirty="0" err="1"/>
              <a:t>checkpointer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옵션에 저장한다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설정된 형태로 파일이 </a:t>
            </a:r>
            <a:r>
              <a:rPr lang="ko-KR" altLang="en-US" dirty="0" err="1"/>
              <a:t>저장된것을</a:t>
            </a:r>
            <a:r>
              <a:rPr lang="ko-KR" altLang="en-US" dirty="0"/>
              <a:t> 확인 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이중에서 좋은 모델이 있다면 차후에 다시 쓸 수 있도록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48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45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hist_df</a:t>
            </a:r>
            <a:r>
              <a:rPr lang="ko-KR" altLang="en-US" dirty="0"/>
              <a:t>라고 </a:t>
            </a:r>
            <a:r>
              <a:rPr lang="en-US" altLang="ko-KR" dirty="0"/>
              <a:t>pandas</a:t>
            </a:r>
            <a:r>
              <a:rPr lang="ko-KR" altLang="en-US" dirty="0"/>
              <a:t>의 </a:t>
            </a:r>
            <a:r>
              <a:rPr lang="en-US" altLang="ko-KR" dirty="0" err="1"/>
              <a:t>DataFrame</a:t>
            </a:r>
            <a:r>
              <a:rPr lang="ko-KR" altLang="en-US" dirty="0"/>
              <a:t>에 </a:t>
            </a:r>
            <a:r>
              <a:rPr lang="ko-KR" altLang="en-US" dirty="0" err="1"/>
              <a:t>데아터를</a:t>
            </a:r>
            <a:r>
              <a:rPr lang="ko-KR" altLang="en-US" dirty="0"/>
              <a:t> 저장했다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48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i="0" dirty="0">
                <a:effectLst/>
                <a:highlight>
                  <a:srgbClr val="FFFFFF"/>
                </a:highlight>
                <a:latin typeface="system-ui"/>
              </a:rPr>
              <a:t>Accuracy, loss, </a:t>
            </a:r>
            <a:r>
              <a:rPr lang="en-US" altLang="ko-KR" b="1" i="0" dirty="0" err="1">
                <a:effectLst/>
                <a:highlight>
                  <a:srgbClr val="FFFFFF"/>
                </a:highlight>
                <a:latin typeface="system-ui"/>
              </a:rPr>
              <a:t>val_accuracy</a:t>
            </a:r>
            <a:r>
              <a:rPr lang="en-US" altLang="ko-KR" b="1" i="0" dirty="0">
                <a:effectLst/>
                <a:highlight>
                  <a:srgbClr val="FFFFFF"/>
                </a:highlight>
                <a:latin typeface="system-ui"/>
              </a:rPr>
              <a:t>, </a:t>
            </a:r>
            <a:r>
              <a:rPr lang="en-US" altLang="ko-KR" b="1" i="0" dirty="0" err="1">
                <a:effectLst/>
                <a:highlight>
                  <a:srgbClr val="FFFFFF"/>
                </a:highlight>
                <a:latin typeface="system-ui"/>
              </a:rPr>
              <a:t>val_loss</a:t>
            </a:r>
            <a:r>
              <a:rPr lang="ko-KR" altLang="en-US" b="1" i="0" dirty="0">
                <a:effectLst/>
                <a:highlight>
                  <a:srgbClr val="FFFFFF"/>
                </a:highlight>
                <a:latin typeface="system-ui"/>
              </a:rPr>
              <a:t>가</a:t>
            </a:r>
            <a:r>
              <a:rPr lang="en-US" altLang="ko-KR" b="1" i="0" dirty="0">
                <a:effectLst/>
                <a:highlight>
                  <a:srgbClr val="FFFFFF"/>
                </a:highlight>
                <a:latin typeface="system-ui"/>
              </a:rPr>
              <a:t> 2000</a:t>
            </a:r>
            <a:r>
              <a:rPr lang="ko-KR" altLang="en-US" b="1" i="0" dirty="0">
                <a:effectLst/>
                <a:highlight>
                  <a:srgbClr val="FFFFFF"/>
                </a:highlight>
                <a:latin typeface="system-ui"/>
              </a:rPr>
              <a:t>번에 걸쳐 저장되어 있는 것을 확인 할 수 있다</a:t>
            </a:r>
            <a:r>
              <a:rPr lang="en-US" altLang="ko-KR" b="1" i="0" dirty="0">
                <a:effectLst/>
                <a:highlight>
                  <a:srgbClr val="FFFFFF"/>
                </a:highlight>
                <a:latin typeface="system-ui"/>
              </a:rPr>
              <a:t>,</a:t>
            </a:r>
          </a:p>
          <a:p>
            <a:r>
              <a:rPr lang="ko-KR" altLang="en-US" b="1" i="0" dirty="0">
                <a:effectLst/>
                <a:highlight>
                  <a:srgbClr val="FFFFFF"/>
                </a:highlight>
                <a:latin typeface="system-ui"/>
              </a:rPr>
              <a:t>여기서 </a:t>
            </a:r>
            <a:r>
              <a:rPr lang="en-US" altLang="ko-KR" b="1" i="0" dirty="0">
                <a:effectLst/>
                <a:highlight>
                  <a:srgbClr val="FFFFFF"/>
                </a:highlight>
                <a:latin typeface="system-ui"/>
              </a:rPr>
              <a:t>loss, Accuracy </a:t>
            </a:r>
            <a:r>
              <a:rPr lang="ko-KR" altLang="en-US" b="1" i="0" dirty="0">
                <a:effectLst/>
                <a:highlight>
                  <a:srgbClr val="FFFFFF"/>
                </a:highlight>
                <a:latin typeface="system-ui"/>
              </a:rPr>
              <a:t>부분만 그래프로 출력을 해 본다</a:t>
            </a:r>
            <a:r>
              <a:rPr lang="en-US" altLang="ko-KR" b="1" i="0" dirty="0">
                <a:effectLst/>
                <a:highlight>
                  <a:srgbClr val="FFFFFF"/>
                </a:highlight>
                <a:latin typeface="system-ui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958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i="0" dirty="0" err="1">
                <a:effectLst/>
                <a:highlight>
                  <a:srgbClr val="FFFFFF"/>
                </a:highlight>
                <a:latin typeface="system-ui"/>
              </a:rPr>
              <a:t>val_loss</a:t>
            </a:r>
            <a:r>
              <a:rPr lang="ko-KR" altLang="en-US" b="1" i="0" dirty="0">
                <a:effectLst/>
                <a:highlight>
                  <a:srgbClr val="FFFFFF"/>
                </a:highlight>
                <a:latin typeface="system-ui"/>
              </a:rPr>
              <a:t>가 검증셋의 오차를 말하고 </a:t>
            </a:r>
            <a:r>
              <a:rPr lang="en-US" altLang="ko-KR" dirty="0" err="1"/>
              <a:t>y_vloss</a:t>
            </a:r>
            <a:r>
              <a:rPr lang="ko-KR" altLang="en-US" dirty="0"/>
              <a:t>에 저장한다</a:t>
            </a:r>
            <a:r>
              <a:rPr lang="en-US" altLang="ko-KR" dirty="0"/>
              <a:t>.</a:t>
            </a:r>
          </a:p>
          <a:p>
            <a:r>
              <a:rPr lang="en-US" altLang="ko-KR" b="1" i="0" dirty="0">
                <a:effectLst/>
                <a:highlight>
                  <a:srgbClr val="FFFFFF"/>
                </a:highlight>
                <a:latin typeface="system-ui"/>
              </a:rPr>
              <a:t>Loas </a:t>
            </a:r>
            <a:r>
              <a:rPr lang="ko-KR" altLang="en-US" b="1" i="0" dirty="0">
                <a:effectLst/>
                <a:highlight>
                  <a:srgbClr val="FFFFFF"/>
                </a:highlight>
                <a:latin typeface="system-ui"/>
              </a:rPr>
              <a:t>는 학습셋의 오차를 말하고 </a:t>
            </a:r>
            <a:r>
              <a:rPr lang="en-US" altLang="ko-KR" dirty="0" err="1"/>
              <a:t>y_loss</a:t>
            </a:r>
            <a:r>
              <a:rPr lang="en-US" altLang="ko-KR" dirty="0"/>
              <a:t> 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저장한다</a:t>
            </a:r>
            <a:r>
              <a:rPr lang="en-US" altLang="ko-KR" dirty="0"/>
              <a:t>,</a:t>
            </a:r>
            <a:endParaRPr lang="en-US" altLang="ko-KR" b="1" i="0" dirty="0">
              <a:effectLst/>
              <a:highlight>
                <a:srgbClr val="FFFFFF"/>
              </a:highlight>
              <a:latin typeface="system-ui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3266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학습셋의 오차는 파란색으로 검증셋의 오차는 빨강색으로 출력하게끔 나들었다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학습셋의 오차는 점점 줄어드는데 검증셋의 오차는 </a:t>
            </a:r>
            <a:r>
              <a:rPr lang="ko-KR" altLang="en-US" dirty="0" err="1"/>
              <a:t>어느순간</a:t>
            </a:r>
            <a:r>
              <a:rPr lang="ko-KR" altLang="en-US" dirty="0"/>
              <a:t> 올라가는 것을 확인 할 수 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모델의 학습이 멈춰야 하는데 더 이상 나이지지 않는 순간에 학습을 멈추도록 해야 한다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711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4436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EarlyStopping</a:t>
            </a:r>
            <a:r>
              <a:rPr lang="ko-KR" altLang="en-US" dirty="0"/>
              <a:t>이라는 클래스를 사용하게 된다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EarlyStopping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en-US" altLang="ko-KR" dirty="0" err="1">
                <a:solidFill>
                  <a:srgbClr val="BA2121"/>
                </a:solidFill>
                <a:effectLst/>
              </a:rPr>
              <a:t>val_loss</a:t>
            </a:r>
            <a:r>
              <a:rPr lang="ko-KR" altLang="en-US" dirty="0">
                <a:solidFill>
                  <a:srgbClr val="BA2121"/>
                </a:solidFill>
                <a:effectLst/>
              </a:rPr>
              <a:t>를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 </a:t>
            </a:r>
            <a:r>
              <a:rPr lang="ko-KR" altLang="en-US" dirty="0">
                <a:solidFill>
                  <a:srgbClr val="BA2121"/>
                </a:solidFill>
                <a:effectLst/>
              </a:rPr>
              <a:t>검증하라고 해준다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. </a:t>
            </a:r>
            <a:r>
              <a:rPr lang="ko-KR" altLang="en-US" dirty="0">
                <a:solidFill>
                  <a:srgbClr val="BA2121"/>
                </a:solidFill>
                <a:effectLst/>
              </a:rPr>
              <a:t>즉 검증셋의 </a:t>
            </a:r>
            <a:r>
              <a:rPr lang="ko-KR" altLang="en-US" dirty="0" err="1">
                <a:solidFill>
                  <a:srgbClr val="BA2121"/>
                </a:solidFill>
                <a:effectLst/>
              </a:rPr>
              <a:t>오차값을</a:t>
            </a:r>
            <a:r>
              <a:rPr lang="ko-KR" altLang="en-US" dirty="0">
                <a:solidFill>
                  <a:srgbClr val="BA2121"/>
                </a:solidFill>
                <a:effectLst/>
              </a:rPr>
              <a:t> 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20</a:t>
            </a:r>
            <a:r>
              <a:rPr lang="ko-KR" altLang="en-US" dirty="0">
                <a:solidFill>
                  <a:srgbClr val="BA2121"/>
                </a:solidFill>
                <a:effectLst/>
              </a:rPr>
              <a:t>번 이상 반복했을 때 오차가 나아지지 않으면 멈추라고 해주는 것이다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.</a:t>
            </a:r>
          </a:p>
          <a:p>
            <a:r>
              <a:rPr lang="ko-KR" altLang="en-US" dirty="0">
                <a:solidFill>
                  <a:srgbClr val="BA2121"/>
                </a:solidFill>
                <a:effectLst/>
              </a:rPr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599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5245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early_stopping_callback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의미는 </a:t>
            </a:r>
            <a:r>
              <a:rPr lang="en-US" altLang="ko-KR" dirty="0"/>
              <a:t>20</a:t>
            </a:r>
            <a:r>
              <a:rPr lang="ko-KR" altLang="en-US" dirty="0"/>
              <a:t>번 이상 나아지지 않으면 멈추라고 설정을 해준다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3357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save_best_only</a:t>
            </a:r>
            <a:r>
              <a:rPr lang="ko-KR" altLang="en-US" dirty="0"/>
              <a:t>는 마지막 베스트 하나만 저장하라는 옵션이다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87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671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0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68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2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2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50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683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C587-CD89-8C40-AE01-36B25C2FD636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BB27-D512-944F-BD47-D639527B0043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7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/>
              <a:pPr>
                <a:defRPr/>
              </a:pPr>
              <a:t>6/5/2025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/>
              <a:pPr>
                <a:defRPr/>
              </a:pPr>
              <a:t>6/5/2025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45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/>
              <a:pPr>
                <a:defRPr/>
              </a:pPr>
              <a:t>6/5/2025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655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/>
              <a:pPr>
                <a:defRPr/>
              </a:pPr>
              <a:t>6/5/2025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79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7E81C33E-41CC-7144-9EE9-6BB47BFC27EB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80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BC88-5945-6548-81AC-D1E801230918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29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FCC0-BCF1-7F40-94F0-C8B3ACD33893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481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98B9-3ABE-A242-9F6B-DA9BAB124A35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39871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5156-B5F0-8F44-9B3B-B829BD25E71A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737102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B5F46-2B7F-5B4D-AD94-C45166DC40CF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666413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6E7C3E9F-FCDE-664F-9336-1ABBAA0EA927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8291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81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14527663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EC-FE51-234C-8874-87F532D5C722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1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6BB0B-C07A-EF4C-ADBF-B404E3B41965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773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531E-1DA2-B34A-93A6-C570B815175C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83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64-5CFD-1A4D-9B41-76CFD729FE90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60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8452" y="1906719"/>
            <a:ext cx="6912841" cy="1522281"/>
          </a:xfrm>
          <a:noFill/>
        </p:spPr>
        <p:txBody>
          <a:bodyPr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defRPr lang="en-US" sz="4800" b="1" kern="120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912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89738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5561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548650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6" cy="496462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68509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4862BFA-C828-2446-9B72-82AD7C7C4D28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795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1275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EF40C587-CD89-8C40-AE01-36B25C2FD636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985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234BB27-D512-944F-BD47-D639527B0043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803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>
                <a:solidFill>
                  <a:srgbClr val="464646"/>
                </a:solidFill>
              </a:rPr>
              <a:pPr>
                <a:defRPr/>
              </a:pPr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112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>
                <a:solidFill>
                  <a:srgbClr val="464646"/>
                </a:solidFill>
              </a:rPr>
              <a:pPr>
                <a:defRPr/>
              </a:pPr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0087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>
                <a:solidFill>
                  <a:srgbClr val="464646"/>
                </a:solidFill>
              </a:rPr>
              <a:pPr>
                <a:defRPr/>
              </a:pPr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0085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>
                <a:solidFill>
                  <a:srgbClr val="464646"/>
                </a:solidFill>
              </a:rPr>
              <a:pPr>
                <a:defRPr/>
              </a:pPr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643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7E81C33E-41CC-7144-9EE9-6BB47BFC27EB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388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BEBC88-5945-6548-81AC-D1E801230918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008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917FCC0-BCF1-7F40-94F0-C8B3ACD33893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35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08CA98B9-3ABE-A242-9F6B-DA9BAB124A35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92929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305156-B5F0-8F44-9B3B-B829BD25E71A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5637099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DAB5F46-2B7F-5B4D-AD94-C45166DC40CF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5296279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6E7C3E9F-FCDE-664F-9336-1ABBAA0EA927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35443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6354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38040388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704DA2EC-FE51-234C-8874-87F532D5C722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238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036BB0B-C07A-EF4C-ADBF-B404E3B41965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9522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8600531E-1DA2-B34A-93A6-C570B815175C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5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932E4664-5CFD-1A4D-9B41-76CFD729FE90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07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fld id="{64F5F5AC-42C6-7943-932B-3849F0E3EB5C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107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50000"/>
            </a:schemeClr>
          </a:solidFill>
          <a:latin typeface="+mj-ea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+mn-ea"/>
          <a:ea typeface="+mn-ea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+mn-ea"/>
          <a:ea typeface="+mn-ea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+mn-ea"/>
          <a:ea typeface="+mn-ea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224864"/>
            <a:ext cx="9144000" cy="189542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E06361"/>
                </a:solidFill>
              </a:rPr>
              <a:t>넷째마당</a:t>
            </a:r>
            <a:endParaRPr lang="en-US" altLang="ko-KR" sz="5400" dirty="0">
              <a:solidFill>
                <a:srgbClr val="E06361"/>
              </a:solidFill>
            </a:endParaRPr>
          </a:p>
          <a:p>
            <a:pPr algn="ctr"/>
            <a:r>
              <a:rPr lang="ko-KR" altLang="en-US" sz="5400" dirty="0">
                <a:solidFill>
                  <a:schemeClr val="tx2"/>
                </a:solidFill>
              </a:rPr>
              <a:t>딥러닝 기본기 다지기 </a:t>
            </a:r>
            <a:endParaRPr lang="en-US" sz="5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036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424296" y="375829"/>
            <a:ext cx="8410623" cy="80649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 lvl="0" algn="ctr" defTabSz="457200">
              <a:spcBef>
                <a:spcPct val="0"/>
              </a:spcBef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14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장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모델 성능 향상시키기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j-cs"/>
            </a:endParaRPr>
          </a:p>
        </p:txBody>
      </p:sp>
      <p:cxnSp>
        <p:nvCxnSpPr>
          <p:cNvPr id="5" name="직선 연결선 4"/>
          <p:cNvCxnSpPr>
            <a:cxnSpLocks/>
          </p:cNvCxnSpPr>
          <p:nvPr/>
        </p:nvCxnSpPr>
        <p:spPr>
          <a:xfrm flipV="1">
            <a:off x="1740023" y="1181435"/>
            <a:ext cx="5788241" cy="12051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2159893" y="1643183"/>
            <a:ext cx="6041348" cy="2470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업데이트하기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그래프로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확인하기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4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학습의 자동 중단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3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2600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7578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데이터를 불러와 대략적인 구조를 살펴보자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62504D5-E9D9-44A7-B43B-C1933B67B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98" y="2189649"/>
            <a:ext cx="714375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86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7744F61-2ED2-409D-9F89-8758B7111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1873611"/>
            <a:ext cx="712470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799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샘플이 전체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6,497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모두 속성이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 기록되어 있고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13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번째 열에 클래스가 준비되어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각 속성에 대한 정보는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E14EA11-A2A7-4CE6-9942-9FA8C8DE0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2852930"/>
            <a:ext cx="5067300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844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0~11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번째 열에 해당하는 속성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13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번째 열을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정하겠음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B094416-3F95-4550-9E77-5130B388C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227936"/>
            <a:ext cx="7105650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554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실행할 차례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앞서 우리는 학습셋과 테스트셋을 나누는 방법에 대해 알아보았음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장에서는 여기에 검증셋을 더해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984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7B6F5062-20D5-45FD-A6A0-3FFD71C8D42E}"/>
              </a:ext>
            </a:extLst>
          </p:cNvPr>
          <p:cNvSpPr txBox="1">
            <a:spLocks/>
          </p:cNvSpPr>
          <p:nvPr/>
        </p:nvSpPr>
        <p:spPr>
          <a:xfrm>
            <a:off x="597117" y="1527969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14-1 | </a:t>
            </a:r>
            <a:r>
              <a:rPr lang="ko-KR" altLang="en-US" sz="1600" b="1" dirty="0" err="1"/>
              <a:t>학습셋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테스트셋</a:t>
            </a:r>
            <a:r>
              <a:rPr lang="en-US" altLang="ko-KR" sz="1600" b="1" dirty="0"/>
              <a:t>, </a:t>
            </a:r>
            <a:r>
              <a:rPr lang="ko-KR" altLang="en-US" sz="1600" b="1" dirty="0" err="1"/>
              <a:t>검증셋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81DEB0D-81BF-4307-B718-EAFF2B4883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75" y="1928331"/>
            <a:ext cx="384810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381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학습이 끝난 모델을 테스트해 보는 것이 테스트셋의 목적이라면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최적의 학습 파라미터를 찾기 위해 학습 과정에서 사용하는 것이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검증셋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검증셋을 설정하면 검증셋에 테스트한 결과를 추적하면서 최적의 모델을 만들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검증셋은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model.fit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 안에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validation_split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이라는 옵션을 주면 만들어짐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14-1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과 같이 전체의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80%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학습셋으로 만들고 이 중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25%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검증셋으로 하면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학습셋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검증셋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테스트셋의 비율이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60:20:20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40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전체 코드를 실행하면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4B2BCA1-5662-41A6-849F-1AB45FAA3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219253"/>
            <a:ext cx="710565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21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8E9D23A-F304-4A9F-A849-7805E6C3D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1899203"/>
            <a:ext cx="710565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304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19D28F9-82E8-4E57-9660-A7D0183FF1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1873611"/>
            <a:ext cx="712470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752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7B6F5062-20D5-45FD-A6A0-3FFD71C8D42E}"/>
              </a:ext>
            </a:extLst>
          </p:cNvPr>
          <p:cNvSpPr txBox="1">
            <a:spLocks/>
          </p:cNvSpPr>
          <p:nvPr/>
        </p:nvSpPr>
        <p:spPr>
          <a:xfrm>
            <a:off x="597117" y="1527969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14-1 | </a:t>
            </a:r>
            <a:r>
              <a:rPr lang="ko-KR" altLang="en-US" sz="1600" b="1" dirty="0" err="1"/>
              <a:t>학습셋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테스트셋</a:t>
            </a:r>
            <a:r>
              <a:rPr lang="en-US" altLang="ko-KR" sz="1600" b="1" dirty="0"/>
              <a:t>, </a:t>
            </a:r>
            <a:r>
              <a:rPr lang="ko-KR" altLang="en-US" sz="1600" b="1" dirty="0" err="1"/>
              <a:t>검증셋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81DEB0D-81BF-4307-B718-EAFF2B4883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75" y="1928331"/>
            <a:ext cx="384810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308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826D8A2-06EF-42C9-BC16-06E54DA356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1873611"/>
            <a:ext cx="706755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458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5480E5-40F0-4BD9-B1F0-259AD2FC3C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66" y="1873611"/>
            <a:ext cx="70770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761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DFDD15B-A85A-4B1A-A2F6-ED539460DB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66" y="1883340"/>
            <a:ext cx="7105650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381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82222BC-5DB6-4A8C-AB59-C091EF9D1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" y="1873611"/>
            <a:ext cx="7105650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324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데이터의 확인과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검증셋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세 개의 은닉층을 만들고 각각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30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12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8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개의 노드를 만들었음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50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번을 반복했을 때 정확도가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94.15%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나왔음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꽤 높은 정확도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이것이 과연 최적의 결과일까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?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여기에 여러 옵션을 더해 가면서 더 나은 모델을 만들어 가는 방법을 알아보자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7100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20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업데이트하기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8170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업데이트하기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업데이트하기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에포크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(epochs)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학습을 몇 번 반복할 것인지 정해 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에포크가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50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이면 순전파와 역전파를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50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 실시한다는 뜻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학습을 많이 반복한다고 해서 모델 성능이 지속적으로 좋아지는 것은 아님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적절히 정해 주는 것이 중요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50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에포크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중 최적의 학습이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40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번째에 이루어졌다면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어떻게 해서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40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번째 모델을 불러와 사용할 수 있을까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?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이번에는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에포크마다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모델의 정확도를 함께 기록하면서 저장하는 방법을 알아보자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2749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업데이트하기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업데이트하기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모델이 어떤 식으로 저장될지 정함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 코드는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./data/model/all/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폴더에 모델을 지정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50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번째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에포크의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검증셋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정확도가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0.9346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50-0.9346.hdf5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라는 이름으로 저장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433B4A9-FE1B-4E66-8F31-897211D10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591" y="2852930"/>
            <a:ext cx="710565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8380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업데이트하기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업데이트하기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학습 중인 모델을 저장하는 함수는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API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ModelCheckpoint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모델이 저장될 곳을 정하고 진행되는 현황을 모니터할 수 있도록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verbose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1(True)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설정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8BE605-F15C-4445-81CA-38B272FBB1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691" y="2795323"/>
            <a:ext cx="706755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9735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업데이트하기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47BF303-A364-4EFD-BB86-63E9F87909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145" y="2818696"/>
            <a:ext cx="7082668" cy="3778689"/>
          </a:xfrm>
          <a:prstGeom prst="rect">
            <a:avLst/>
          </a:prstGeom>
        </p:spPr>
      </p:pic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CE27A2B4-821F-1EC5-AA0E-45E0F12F7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938" y="1470362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업데이트하기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학습 중인 모델을 저장하는 함수는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API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ModelCheckpoint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모델이 저장될 곳을 정하고 진행되는 현황을 모니터할 수 있도록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verbose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1(True)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설정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02851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업데이트하기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업데이트하기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64029E9-0C22-4D8C-8E76-26E0F12D8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509" y="1873611"/>
            <a:ext cx="7096125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7037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업데이트하기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모델 업데이트하기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파일명을 통해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에포크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수와 정확도를 알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첫 번째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에포크에서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76.46%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였던 정확도가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50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번째에서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94.08%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업데이트되는 것과 각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에포크별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모델이 지정된 폴더에 저장되는 것을 볼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테스트하면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93.9%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정확도를 보여 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실행 결과는 환경에 따라 미세하게 달라질 수 있음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37877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27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그래프로 </a:t>
            </a:r>
            <a:r>
              <a:rPr lang="ko-KR" altLang="en-US" sz="2600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확인하기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59235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그래프로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확인하기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그래프로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확인하기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에포크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수를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2000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으로 늘려 긴 학습을 해 보자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5427EC4-125D-478B-AAB9-8A17B59156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161646"/>
            <a:ext cx="711517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8585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그래프로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확인하기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그래프로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확인하기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코드를 포함해 그동안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model.fit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실행할 때마다 결과를 항상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history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저장해 왔음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저장된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history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어떻게 활용할 수 있는지 알아보자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model.fit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 학습을 진행하면서 매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에포크마다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결과를 출력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일반적으로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loss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값이 출력되고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model.compile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metrics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accuracy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지정하면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accuracy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값이 함께 출력</a:t>
            </a: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loss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학습을 통해 구한 예측 값과 실제 값의 차이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(=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오차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의미하고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accuracy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전체 샘플 중에서 정답을 맞춘 샘플이 몇 개인지의 비율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(=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정확도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이번 예제처럼 검증셋을 지정하면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val_loss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함께 출력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metrics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accuracy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지정하면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accuracy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 함께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val_accuracy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값도 출력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val_loss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학습한 모델을 검증셋에 적용해 얻은 오차이고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val_accuracy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검증셋으로 얻은 정확도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8508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그래프로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확인하기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그래프로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확인하기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값이 저장된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history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model.fit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결과를 가진 파이썬 객체로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history.params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에는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model.fit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설정 값들이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history.epoch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에포크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정보가 들어 있게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우리에게 필요한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loss, accuracy,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val_loss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val_accuracy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history.history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들어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판다스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라이브러리로 불러와 내부를 살펴보자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54A9E59-E76A-4B9E-9001-CADFD4AFEA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573" y="3717035"/>
            <a:ext cx="709612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592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그래프로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확인하기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그래프로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확인하기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724A6B-791E-49DE-AFFA-272B7354C0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1873611"/>
            <a:ext cx="7115175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5451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그래프로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확인하기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그래프로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확인하기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2,000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번의 학습 결과가 저장되어 있음을 알 수 있음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C3300AB-457D-42A2-A0DE-72DC31B13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462" y="1905529"/>
            <a:ext cx="7077075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0550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그래프로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확인하기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그래프로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확인하기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중 학습한 모델을 검증셋에 적용해 얻은 오차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val_loss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y_vloss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저장하고 학습셋에서 얻은 오차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(loss)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y_loss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저장해 보자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C9806A8-593D-4EF7-BB33-B2A972C48D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2449681"/>
            <a:ext cx="7124700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7528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그래프로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확인하기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그래프로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확인하기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그래프로 표시해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학습셋에서 얻은 오차는 빨간색으로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검증셋에서 얻은 오차는 파란색으로 표시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142995-E903-4C50-B550-95ABEF1AC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507288"/>
            <a:ext cx="706755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8320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그래프로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확인하기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그래프로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확인하기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하나의 코드로 정리해서 앞서 실행했던 주피터 노트북에 이어 실행해 보자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CE2BFEA-D805-4D18-91C1-5615F2320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2270750"/>
            <a:ext cx="710565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5004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그래프로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확인하기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그래프로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확인하기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ACDBC43-05A9-418D-829B-AE02300494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91" y="1873611"/>
            <a:ext cx="7181850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935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그래프로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확인하기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그래프로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확인하기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795FBF2-61F9-41BB-A0ED-AAFF8DD015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1844410"/>
            <a:ext cx="7143750" cy="4752975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A39F9111-DB64-4FAA-92B6-213ADE8F056D}"/>
              </a:ext>
            </a:extLst>
          </p:cNvPr>
          <p:cNvSpPr txBox="1">
            <a:spLocks/>
          </p:cNvSpPr>
          <p:nvPr/>
        </p:nvSpPr>
        <p:spPr>
          <a:xfrm>
            <a:off x="1346008" y="2276860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14-2 | </a:t>
            </a:r>
            <a:r>
              <a:rPr lang="ko-KR" altLang="en-US" sz="1600" b="1" dirty="0"/>
              <a:t>학습셋에서 얻은 오차와 검증셋에서 얻은 오차 비교 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47923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그래프로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확인하기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그래프로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과적합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확인하기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그래프의 형태는 실행에 따라 조금씩 다를 수 있지만 대략 그림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14-2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 같은 그래프가 나옴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우리가 눈여겨보아야 할 부분은 학습이 오래 진행될수록 검증셋의 오차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파란색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줄어들지만 테스트셋의 오차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빨간색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다시 커진다는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이는 과도한 학습으로 과적합이 발생했기 때문임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이러한 사실을 통해 알 수 있는 것은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검증셋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오차가 커지기 직전까지 학습한 모델이 최적의 횟수로 학습한 모델이라는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검증셋의 오차가 커지기 전에 학습을 자동으로 중단시키고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그때의 모델을 저장하는 방법을 알아보자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31145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39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4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학습의 자동 중단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76258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학습의 자동 중단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학습의 자동 중단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텐서플로에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포함된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API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EarlyStopping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제공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학습이 진행되어도 테스트셋 오차가 줄어들지 않으면 학습을 자동으로 멈추게 하는 함수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조금 전 배운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ModelCheckpoint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함수와 함께 사용해 보면서 최적의 모델을 저장해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다음과 같이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EarlyStopping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불러옴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344F51D-8AEB-4782-ACC1-F1E125AFEF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3429000"/>
            <a:ext cx="710565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9769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학습의 자동 중단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학습의 자동 중단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monitor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옵션은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model.fit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실행 결과 중 어떤 것을 이용할지 정함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검증셋의 오차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val_loss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지정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patience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옵션은 지정된 값이 몇 번 이상 향상되지 않으면 학습을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종료시킬지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정함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monitor='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val_loss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', patience=20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이라고 지정하면 검증셋의 오차가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 이상 낮아지지 않을 경우 학습을 종료하라는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94158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학습의 자동 중단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학습의 자동 중단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모델 저장에 관한 설정은 앞 절에서 사용한 내용을 그대로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따르겠음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다만 이번에는 최고의 모델 하나만 저장되게끔 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위해 저장될 모델 이름에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에포크나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정확도 정보를 포함하지 않고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ModelCheckpoint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save_best_only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옵션을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True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설정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DE490F-4450-4D04-BD07-CFF8B5A364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41" y="3084999"/>
            <a:ext cx="71247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6909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학습의 자동 중단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학습의 자동 중단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모델을 실행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자동으로 최적의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에포크를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찾아 멈출 예정이므로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epochs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넉넉하게 설정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A77E568-F229-4566-9239-3A4ECB9A00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507288"/>
            <a:ext cx="7086600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1849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학습의 자동 중단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학습의 자동 중단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앞서 만든 기본 코드에 다음과 같이 새로운 코드를 불러와 덧붙여 실행해 보자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7BFE1AE-0A37-45DC-B8F8-B31BD7A941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66" y="2161646"/>
            <a:ext cx="720090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6999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학습의 자동 중단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학습의 자동 중단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464944B-8CF7-4E4D-B2C2-EE9EB84C48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509" y="1914525"/>
            <a:ext cx="7096125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5314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학습의 자동 중단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학습의 자동 중단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에포크를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2,000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번으로 설정했지만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394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번에서 멈추었음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이때의 모델이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model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폴더에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Ch14-4-bestmodel.hdf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라는 이름으로 저장된 것을 확인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41E111F-6FC3-40F2-B81D-76AC98A1F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66" y="1924579"/>
            <a:ext cx="7105650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6561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학습의 자동 중단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학습의 자동 중단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지금까지 만든 모델을 테스트해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따로 저장되어 학습 과정에 포함되지 않은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X_test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y_test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지금의 모델을 적용한 결과는 다음과 같음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07AA54D-C27D-4437-B745-60E961B69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016" y="2795323"/>
            <a:ext cx="7134225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8580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학습의 자동 중단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학습의 자동 중단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정확도가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98.84%</a:t>
            </a: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14.1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절에서 실행했던 기본 소스가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94.15%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정확도를 보였던 것과 비교하면 모델 성능이 대폭 향상된 것을 알 수 있음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35CDC62-6379-4339-B5E3-A023A39A5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41" y="1816004"/>
            <a:ext cx="71247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22051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3985</TotalTime>
  <Words>1634</Words>
  <Application>Microsoft Office PowerPoint</Application>
  <PresentationFormat>화면 슬라이드 쇼(4:3)</PresentationFormat>
  <Paragraphs>236</Paragraphs>
  <Slides>48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48</vt:i4>
      </vt:variant>
    </vt:vector>
  </HeadingPairs>
  <TitlesOfParts>
    <vt:vector size="59" baseType="lpstr">
      <vt:lpstr>KoPub돋움체_Pro Bold</vt:lpstr>
      <vt:lpstr>KoPub돋움체_Pro Light</vt:lpstr>
      <vt:lpstr>KoPub돋움체_Pro Medium</vt:lpstr>
      <vt:lpstr>system-ui</vt:lpstr>
      <vt:lpstr>맑은 고딕</vt:lpstr>
      <vt:lpstr>Arial</vt:lpstr>
      <vt:lpstr>Calibri</vt:lpstr>
      <vt:lpstr>Verdana</vt:lpstr>
      <vt:lpstr>Wingdings</vt:lpstr>
      <vt:lpstr>1_Office Theme</vt:lpstr>
      <vt:lpstr>2_Office Theme</vt:lpstr>
      <vt:lpstr>PowerPoint 프레젠테이션</vt:lpstr>
      <vt:lpstr>PowerPoint 프레젠테이션</vt:lpstr>
      <vt:lpstr>PowerPoint 프레젠테이션</vt:lpstr>
      <vt:lpstr>1 데이터의 확인과 검증셋</vt:lpstr>
      <vt:lpstr>1 데이터의 확인과 검증셋</vt:lpstr>
      <vt:lpstr>1 데이터의 확인과 검증셋</vt:lpstr>
      <vt:lpstr>1 데이터의 확인과 검증셋</vt:lpstr>
      <vt:lpstr>1 데이터의 확인과 검증셋</vt:lpstr>
      <vt:lpstr>1 데이터의 확인과 검증셋</vt:lpstr>
      <vt:lpstr>1 데이터의 확인과 검증셋</vt:lpstr>
      <vt:lpstr>1 데이터의 확인과 검증셋</vt:lpstr>
      <vt:lpstr>1 데이터의 확인과 검증셋</vt:lpstr>
      <vt:lpstr>1 데이터의 확인과 검증셋</vt:lpstr>
      <vt:lpstr>1 데이터의 확인과 검증셋</vt:lpstr>
      <vt:lpstr>1 데이터의 확인과 검증셋</vt:lpstr>
      <vt:lpstr>1 데이터의 확인과 검증셋</vt:lpstr>
      <vt:lpstr>1 데이터의 확인과 검증셋</vt:lpstr>
      <vt:lpstr>1 데이터의 확인과 검증셋</vt:lpstr>
      <vt:lpstr>1 데이터의 확인과 검증셋</vt:lpstr>
      <vt:lpstr>PowerPoint 프레젠테이션</vt:lpstr>
      <vt:lpstr>2 모델 업데이트하기</vt:lpstr>
      <vt:lpstr>2 모델 업데이트하기</vt:lpstr>
      <vt:lpstr>2 모델 업데이트하기</vt:lpstr>
      <vt:lpstr>2 모델 업데이트하기</vt:lpstr>
      <vt:lpstr>2 모델 업데이트하기</vt:lpstr>
      <vt:lpstr>2 모델 업데이트하기</vt:lpstr>
      <vt:lpstr>PowerPoint 프레젠테이션</vt:lpstr>
      <vt:lpstr>3 그래프로 과적합 확인하기</vt:lpstr>
      <vt:lpstr>3 그래프로 과적합 확인하기</vt:lpstr>
      <vt:lpstr>3 그래프로 과적합 확인하기</vt:lpstr>
      <vt:lpstr>3 그래프로 과적합 확인하기</vt:lpstr>
      <vt:lpstr>3 그래프로 과적합 확인하기</vt:lpstr>
      <vt:lpstr>3 그래프로 과적합 확인하기</vt:lpstr>
      <vt:lpstr>3 그래프로 과적합 확인하기</vt:lpstr>
      <vt:lpstr>3 그래프로 과적합 확인하기</vt:lpstr>
      <vt:lpstr>3 그래프로 과적합 확인하기</vt:lpstr>
      <vt:lpstr>3 그래프로 과적합 확인하기</vt:lpstr>
      <vt:lpstr>3 그래프로 과적합 확인하기</vt:lpstr>
      <vt:lpstr>PowerPoint 프레젠테이션</vt:lpstr>
      <vt:lpstr>4 학습의 자동 중단</vt:lpstr>
      <vt:lpstr>4 학습의 자동 중단</vt:lpstr>
      <vt:lpstr>4 학습의 자동 중단</vt:lpstr>
      <vt:lpstr>4 학습의 자동 중단</vt:lpstr>
      <vt:lpstr>4 학습의 자동 중단</vt:lpstr>
      <vt:lpstr>4 학습의 자동 중단</vt:lpstr>
      <vt:lpstr>4 학습의 자동 중단</vt:lpstr>
      <vt:lpstr>4 학습의 자동 중단</vt:lpstr>
      <vt:lpstr>4 학습의 자동 중단</vt:lpstr>
    </vt:vector>
  </TitlesOfParts>
  <Company>The National Academies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Ellinger</dc:creator>
  <cp:lastModifiedBy>user</cp:lastModifiedBy>
  <cp:revision>508</cp:revision>
  <cp:lastPrinted>2016-08-10T06:58:55Z</cp:lastPrinted>
  <dcterms:created xsi:type="dcterms:W3CDTF">2013-04-05T19:58:06Z</dcterms:created>
  <dcterms:modified xsi:type="dcterms:W3CDTF">2025-06-05T07:08:08Z</dcterms:modified>
</cp:coreProperties>
</file>