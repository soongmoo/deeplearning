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</p:sldMasterIdLst>
  <p:notesMasterIdLst>
    <p:notesMasterId r:id="rId49"/>
  </p:notesMasterIdLst>
  <p:handoutMasterIdLst>
    <p:handoutMasterId r:id="rId50"/>
  </p:handoutMasterIdLst>
  <p:sldIdLst>
    <p:sldId id="267" r:id="rId3"/>
    <p:sldId id="270" r:id="rId4"/>
    <p:sldId id="280" r:id="rId5"/>
    <p:sldId id="272" r:id="rId6"/>
    <p:sldId id="281" r:id="rId7"/>
    <p:sldId id="283" r:id="rId8"/>
    <p:sldId id="284" r:id="rId9"/>
    <p:sldId id="285" r:id="rId10"/>
    <p:sldId id="287" r:id="rId11"/>
    <p:sldId id="288" r:id="rId12"/>
    <p:sldId id="290" r:id="rId13"/>
    <p:sldId id="291" r:id="rId14"/>
    <p:sldId id="292" r:id="rId15"/>
    <p:sldId id="293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312" r:id="rId34"/>
    <p:sldId id="313" r:id="rId35"/>
    <p:sldId id="314" r:id="rId36"/>
    <p:sldId id="315" r:id="rId37"/>
    <p:sldId id="316" r:id="rId38"/>
    <p:sldId id="317" r:id="rId39"/>
    <p:sldId id="318" r:id="rId40"/>
    <p:sldId id="319" r:id="rId41"/>
    <p:sldId id="320" r:id="rId42"/>
    <p:sldId id="321" r:id="rId43"/>
    <p:sldId id="322" r:id="rId44"/>
    <p:sldId id="323" r:id="rId45"/>
    <p:sldId id="324" r:id="rId46"/>
    <p:sldId id="325" r:id="rId47"/>
    <p:sldId id="326" r:id="rId48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7">
          <p15:clr>
            <a:srgbClr val="A4A3A4"/>
          </p15:clr>
        </p15:guide>
        <p15:guide id="3" pos="2916">
          <p15:clr>
            <a:srgbClr val="A4A3A4"/>
          </p15:clr>
        </p15:guide>
        <p15:guide id="4" pos="2481">
          <p15:clr>
            <a:srgbClr val="A4A3A4"/>
          </p15:clr>
        </p15:guide>
        <p15:guide id="5" pos="2372">
          <p15:clr>
            <a:srgbClr val="A4A3A4"/>
          </p15:clr>
        </p15:guide>
        <p15:guide id="6" pos="2045">
          <p15:clr>
            <a:srgbClr val="A4A3A4"/>
          </p15:clr>
        </p15:guide>
        <p15:guide id="7" pos="1937">
          <p15:clr>
            <a:srgbClr val="A4A3A4"/>
          </p15:clr>
        </p15:guide>
        <p15:guide id="8" pos="1610">
          <p15:clr>
            <a:srgbClr val="A4A3A4"/>
          </p15:clr>
        </p15:guide>
        <p15:guide id="9" pos="1501">
          <p15:clr>
            <a:srgbClr val="A4A3A4"/>
          </p15:clr>
        </p15:guide>
        <p15:guide id="10" pos="1174">
          <p15:clr>
            <a:srgbClr val="A4A3A4"/>
          </p15:clr>
        </p15:guide>
        <p15:guide id="11" pos="1066">
          <p15:clr>
            <a:srgbClr val="A4A3A4"/>
          </p15:clr>
        </p15:guide>
        <p15:guide id="12" pos="739">
          <p15:clr>
            <a:srgbClr val="A4A3A4"/>
          </p15:clr>
        </p15:guide>
        <p15:guide id="13" pos="630">
          <p15:clr>
            <a:srgbClr val="A4A3A4"/>
          </p15:clr>
        </p15:guide>
        <p15:guide id="14" pos="304">
          <p15:clr>
            <a:srgbClr val="A4A3A4"/>
          </p15:clr>
        </p15:guide>
        <p15:guide id="15" pos="267">
          <p15:clr>
            <a:srgbClr val="A4A3A4"/>
          </p15:clr>
        </p15:guide>
        <p15:guide id="16" pos="3352">
          <p15:clr>
            <a:srgbClr val="A4A3A4"/>
          </p15:clr>
        </p15:guide>
        <p15:guide id="17" pos="3243">
          <p15:clr>
            <a:srgbClr val="A4A3A4"/>
          </p15:clr>
        </p15:guide>
        <p15:guide id="18" pos="3678">
          <p15:clr>
            <a:srgbClr val="A4A3A4"/>
          </p15:clr>
        </p15:guide>
        <p15:guide id="19" pos="3787">
          <p15:clr>
            <a:srgbClr val="A4A3A4"/>
          </p15:clr>
        </p15:guide>
        <p15:guide id="20" pos="4114">
          <p15:clr>
            <a:srgbClr val="A4A3A4"/>
          </p15:clr>
        </p15:guide>
        <p15:guide id="21" pos="4223">
          <p15:clr>
            <a:srgbClr val="A4A3A4"/>
          </p15:clr>
        </p15:guide>
        <p15:guide id="22" pos="4549">
          <p15:clr>
            <a:srgbClr val="A4A3A4"/>
          </p15:clr>
        </p15:guide>
        <p15:guide id="23" pos="4658">
          <p15:clr>
            <a:srgbClr val="A4A3A4"/>
          </p15:clr>
        </p15:guide>
        <p15:guide id="24" pos="4985">
          <p15:clr>
            <a:srgbClr val="A4A3A4"/>
          </p15:clr>
        </p15:guide>
        <p15:guide id="25" pos="5420">
          <p15:clr>
            <a:srgbClr val="A4A3A4"/>
          </p15:clr>
        </p15:guide>
        <p15:guide id="26" pos="5094">
          <p15:clr>
            <a:srgbClr val="A4A3A4"/>
          </p15:clr>
        </p15:guide>
        <p15:guide id="27" pos="5456">
          <p15:clr>
            <a:srgbClr val="A4A3A4"/>
          </p15:clr>
        </p15:guide>
        <p15:guide id="2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5B8"/>
    <a:srgbClr val="37C9CD"/>
    <a:srgbClr val="59D2D5"/>
    <a:srgbClr val="E06361"/>
    <a:srgbClr val="75B77D"/>
    <a:srgbClr val="A3CFA8"/>
    <a:srgbClr val="8D9DD8"/>
    <a:srgbClr val="FEF7DB"/>
    <a:srgbClr val="FEDBF7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8780" autoAdjust="0"/>
  </p:normalViewPr>
  <p:slideViewPr>
    <p:cSldViewPr showGuides="1">
      <p:cViewPr varScale="1">
        <p:scale>
          <a:sx n="77" d="100"/>
          <a:sy n="77" d="100"/>
        </p:scale>
        <p:origin x="2598" y="54"/>
      </p:cViewPr>
      <p:guideLst>
        <p:guide pos="2807"/>
        <p:guide pos="2916"/>
        <p:guide pos="2481"/>
        <p:guide pos="2372"/>
        <p:guide pos="2045"/>
        <p:guide pos="1937"/>
        <p:guide pos="1610"/>
        <p:guide pos="1501"/>
        <p:guide pos="1174"/>
        <p:guide pos="1066"/>
        <p:guide pos="739"/>
        <p:guide pos="630"/>
        <p:guide pos="304"/>
        <p:guide pos="267"/>
        <p:guide pos="3352"/>
        <p:guide pos="3243"/>
        <p:guide pos="3678"/>
        <p:guide pos="3787"/>
        <p:guide pos="4114"/>
        <p:guide pos="4223"/>
        <p:guide pos="4549"/>
        <p:guide pos="4658"/>
        <p:guide pos="4985"/>
        <p:guide pos="5420"/>
        <p:guide pos="5094"/>
        <p:guide pos="545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941" y="62"/>
      </p:cViewPr>
      <p:guideLst/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E63-BBCE-42FA-B3A6-5FD535041784}" type="datetimeFigureOut">
              <a:rPr lang="ko-KR" altLang="en-US" smtClean="0"/>
              <a:pPr/>
              <a:t>2025-06-05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1031-9F3C-4BB5-813E-6F6C294051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56D40-764E-476E-B5E6-4049846BDF68}" type="datetimeFigureOut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DBE4-966B-4F0C-AF81-59D2D1B847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7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준비된 데이터는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아이오와주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에임스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지역에서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2006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년부터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2010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년까지 거래된 실제 부동산 판매 기록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주거 유형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차고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자재 및 환경에 관한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80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개의 서로 다른 속성을 이용해 집의 가격을 예측해 볼 예정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319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i="0" dirty="0" err="1">
                <a:effectLst/>
                <a:highlight>
                  <a:srgbClr val="FFFFFF"/>
                </a:highlight>
                <a:latin typeface="system-ui"/>
              </a:rPr>
              <a:t>SalePrice</a:t>
            </a:r>
            <a:r>
              <a:rPr lang="ko-KR" altLang="en-US" b="1" i="0" dirty="0">
                <a:effectLst/>
                <a:highlight>
                  <a:srgbClr val="FFFFFF"/>
                </a:highlight>
                <a:latin typeface="system-ui"/>
              </a:rPr>
              <a:t>항목이 클래스에 해당하며 집 값에 해당하는 부분이다</a:t>
            </a:r>
            <a:r>
              <a:rPr lang="en-US" altLang="ko-KR" b="1" i="0" dirty="0">
                <a:effectLst/>
                <a:highlight>
                  <a:srgbClr val="FFFFFF"/>
                </a:highlight>
                <a:latin typeface="system-ui"/>
              </a:rPr>
              <a:t>. </a:t>
            </a:r>
            <a:r>
              <a:rPr lang="ko-KR" altLang="en-US" b="1" i="0" dirty="0">
                <a:effectLst/>
                <a:highlight>
                  <a:srgbClr val="FFFFFF"/>
                </a:highlight>
                <a:latin typeface="system-ui"/>
              </a:rPr>
              <a:t>앞에 있는 데이터를 이용해서 집값에 얼마에 해당하는 지 예측하는 것이다</a:t>
            </a:r>
            <a:r>
              <a:rPr lang="en-US" altLang="ko-KR" b="1" i="0" dirty="0">
                <a:effectLst/>
                <a:highlight>
                  <a:srgbClr val="FFFFFF"/>
                </a:highlight>
                <a:latin typeface="system-ui"/>
              </a:rPr>
              <a:t>,</a:t>
            </a:r>
          </a:p>
          <a:p>
            <a:r>
              <a:rPr lang="ko-KR" altLang="en-US" b="1" i="0" dirty="0">
                <a:effectLst/>
                <a:highlight>
                  <a:srgbClr val="FFFFFF"/>
                </a:highlight>
                <a:latin typeface="system-ui"/>
              </a:rPr>
              <a:t>전체 데이터는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총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80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개의 속성으로 이루어져 있고 </a:t>
            </a:r>
            <a:r>
              <a:rPr lang="ko-KR" altLang="en-US" b="1" i="0" dirty="0">
                <a:effectLst/>
                <a:highlight>
                  <a:srgbClr val="FFFFFF"/>
                </a:highlight>
                <a:latin typeface="system-ui"/>
              </a:rPr>
              <a:t> </a:t>
            </a:r>
            <a:r>
              <a:rPr lang="en-US" altLang="ko-KR" b="1" i="0" dirty="0">
                <a:effectLst/>
                <a:highlight>
                  <a:srgbClr val="FFFFFF"/>
                </a:highlight>
                <a:latin typeface="system-ui"/>
              </a:rPr>
              <a:t>1460</a:t>
            </a:r>
            <a:r>
              <a:rPr lang="ko-KR" altLang="en-US" b="1" i="0" dirty="0">
                <a:effectLst/>
                <a:highlight>
                  <a:srgbClr val="FFFFFF"/>
                </a:highlight>
                <a:latin typeface="system-ui"/>
              </a:rPr>
              <a:t>개의 데이터로 이루어져 있다</a:t>
            </a:r>
            <a:r>
              <a:rPr lang="en-US" altLang="ko-KR" b="1" i="0" dirty="0">
                <a:effectLst/>
                <a:highlight>
                  <a:srgbClr val="FFFFFF"/>
                </a:highlight>
                <a:latin typeface="system-ui"/>
              </a:rPr>
              <a:t>.</a:t>
            </a:r>
          </a:p>
          <a:p>
            <a:endParaRPr lang="en-US" altLang="ko-KR" b="1" i="0" dirty="0">
              <a:effectLst/>
              <a:highlight>
                <a:srgbClr val="FFFFFF"/>
              </a:highlight>
              <a:latin typeface="system-ui"/>
            </a:endParaRPr>
          </a:p>
          <a:p>
            <a:r>
              <a:rPr lang="ko-KR" altLang="en-US" dirty="0"/>
              <a:t>데이터를 확인 해보면 모든 항목에 값이 저장되어 있지 않는 것을 알 수 있는 데 이것을 </a:t>
            </a:r>
            <a:r>
              <a:rPr lang="ko-KR" altLang="en-US" dirty="0" err="1"/>
              <a:t>결측치라고</a:t>
            </a:r>
            <a:r>
              <a:rPr lang="ko-KR" altLang="en-US" dirty="0"/>
              <a:t>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37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결측치가</a:t>
            </a:r>
            <a:r>
              <a:rPr lang="ko-KR" altLang="en-US" dirty="0"/>
              <a:t> 가장 많은 것 </a:t>
            </a:r>
            <a:r>
              <a:rPr lang="ko-KR" altLang="en-US" dirty="0" err="1"/>
              <a:t>부터</a:t>
            </a:r>
            <a:r>
              <a:rPr lang="ko-KR" altLang="en-US" dirty="0"/>
              <a:t> </a:t>
            </a:r>
            <a:r>
              <a:rPr lang="ko-KR" altLang="en-US" dirty="0" err="1"/>
              <a:t>추력되고</a:t>
            </a:r>
            <a:r>
              <a:rPr lang="ko-KR" altLang="en-US" dirty="0"/>
              <a:t> 있다</a:t>
            </a:r>
            <a:r>
              <a:rPr lang="en-US" altLang="ko-KR" dirty="0"/>
              <a:t>. </a:t>
            </a:r>
          </a:p>
          <a:p>
            <a:r>
              <a:rPr lang="en-US" altLang="ko-KR" dirty="0" err="1"/>
              <a:t>PoolQC</a:t>
            </a:r>
            <a:r>
              <a:rPr lang="ko-KR" altLang="en-US" dirty="0"/>
              <a:t>라는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항목은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1,460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개의 샘플 중에서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1,453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개나 비어 있을 만큼 빠진 곳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결측치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많은 것을 확인할 수 있음</a:t>
            </a:r>
            <a:endParaRPr lang="ko-KR" altLang="en-US" sz="14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dirty="0"/>
          </a:p>
          <a:p>
            <a:r>
              <a:rPr lang="ko-KR" altLang="en-US" dirty="0" err="1"/>
              <a:t>결측치를</a:t>
            </a:r>
            <a:r>
              <a:rPr lang="ko-KR" altLang="en-US" dirty="0"/>
              <a:t> 처리해주어야 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587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Fillna</a:t>
            </a:r>
            <a:r>
              <a:rPr lang="ko-KR" altLang="en-US" dirty="0"/>
              <a:t>라는</a:t>
            </a:r>
            <a:r>
              <a:rPr lang="en-US" altLang="ko-KR" dirty="0"/>
              <a:t> </a:t>
            </a:r>
            <a:r>
              <a:rPr lang="ko-KR" altLang="en-US" dirty="0"/>
              <a:t>함수를 이용해서 </a:t>
            </a:r>
            <a:r>
              <a:rPr lang="ko-KR" altLang="en-US" dirty="0" err="1"/>
              <a:t>결측치를</a:t>
            </a:r>
            <a:r>
              <a:rPr lang="ko-KR" altLang="en-US" dirty="0"/>
              <a:t> 채워 줄 수 있다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df</a:t>
            </a:r>
            <a:r>
              <a:rPr lang="en-US" altLang="ko-KR" b="1" dirty="0" err="1">
                <a:solidFill>
                  <a:srgbClr val="8250DF"/>
                </a:solidFill>
                <a:effectLst/>
              </a:rPr>
              <a:t>.</a:t>
            </a:r>
            <a:r>
              <a:rPr lang="en-US" altLang="ko-KR" dirty="0" err="1"/>
              <a:t>mean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()</a:t>
            </a:r>
            <a:r>
              <a:rPr lang="ko-KR" altLang="en-US" dirty="0">
                <a:solidFill>
                  <a:srgbClr val="0055AA"/>
                </a:solidFill>
                <a:effectLst/>
              </a:rPr>
              <a:t>은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 </a:t>
            </a:r>
            <a:r>
              <a:rPr lang="ko-KR" altLang="en-US" dirty="0">
                <a:solidFill>
                  <a:srgbClr val="0055AA"/>
                </a:solidFill>
                <a:effectLst/>
              </a:rPr>
              <a:t>모든 항목을 각각의 평균값을 구하는 것이다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.</a:t>
            </a:r>
          </a:p>
          <a:p>
            <a:r>
              <a:rPr lang="en-US" altLang="ko-KR" dirty="0" err="1"/>
              <a:t>df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8250DF"/>
                </a:solidFill>
                <a:effectLst/>
              </a:rPr>
              <a:t>=</a:t>
            </a:r>
            <a:r>
              <a:rPr lang="en-US" altLang="ko-KR" dirty="0"/>
              <a:t> </a:t>
            </a:r>
            <a:r>
              <a:rPr lang="en-US" altLang="ko-KR" dirty="0" err="1"/>
              <a:t>df</a:t>
            </a:r>
            <a:r>
              <a:rPr lang="en-US" altLang="ko-KR" b="1" dirty="0" err="1">
                <a:solidFill>
                  <a:srgbClr val="8250DF"/>
                </a:solidFill>
                <a:effectLst/>
              </a:rPr>
              <a:t>.</a:t>
            </a:r>
            <a:r>
              <a:rPr lang="en-US" altLang="ko-KR" dirty="0" err="1"/>
              <a:t>fillna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(</a:t>
            </a:r>
            <a:r>
              <a:rPr lang="en-US" altLang="ko-KR" dirty="0" err="1"/>
              <a:t>df</a:t>
            </a:r>
            <a:r>
              <a:rPr lang="en-US" altLang="ko-KR" b="1" dirty="0" err="1">
                <a:solidFill>
                  <a:srgbClr val="8250DF"/>
                </a:solidFill>
                <a:effectLst/>
              </a:rPr>
              <a:t>.</a:t>
            </a:r>
            <a:r>
              <a:rPr lang="en-US" altLang="ko-KR" dirty="0" err="1"/>
              <a:t>mean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())</a:t>
            </a:r>
            <a:r>
              <a:rPr lang="ko-KR" altLang="en-US" dirty="0">
                <a:solidFill>
                  <a:srgbClr val="0055AA"/>
                </a:solidFill>
                <a:effectLst/>
              </a:rPr>
              <a:t>는 각각의 항목의 </a:t>
            </a:r>
            <a:r>
              <a:rPr lang="ko-KR" altLang="en-US" dirty="0" err="1">
                <a:solidFill>
                  <a:srgbClr val="0055AA"/>
                </a:solidFill>
                <a:effectLst/>
              </a:rPr>
              <a:t>결측치를</a:t>
            </a:r>
            <a:r>
              <a:rPr lang="ko-KR" altLang="en-US" dirty="0">
                <a:solidFill>
                  <a:srgbClr val="0055AA"/>
                </a:solidFill>
                <a:effectLst/>
              </a:rPr>
              <a:t> 항목의 평균값으로 채운다는 것이고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‘</a:t>
            </a:r>
          </a:p>
          <a:p>
            <a:r>
              <a:rPr lang="ko-KR" altLang="en-US" dirty="0"/>
              <a:t>문자인 경우 평균값을 구하지 못하므로 문자인 경우 </a:t>
            </a:r>
            <a:r>
              <a:rPr lang="en-US" altLang="ko-KR" dirty="0"/>
              <a:t>0</a:t>
            </a:r>
            <a:r>
              <a:rPr lang="ko-KR" altLang="en-US" dirty="0"/>
              <a:t>또는 </a:t>
            </a:r>
            <a:r>
              <a:rPr lang="en-US" altLang="ko-KR" dirty="0"/>
              <a:t>1</a:t>
            </a:r>
            <a:r>
              <a:rPr lang="ko-KR" altLang="en-US" dirty="0"/>
              <a:t>로 변경할 수 있게 </a:t>
            </a:r>
            <a:r>
              <a:rPr lang="en-US" altLang="ko-KR" dirty="0" err="1"/>
              <a:t>df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8250DF"/>
                </a:solidFill>
                <a:effectLst/>
              </a:rPr>
              <a:t>=</a:t>
            </a:r>
            <a:r>
              <a:rPr lang="en-US" altLang="ko-KR" dirty="0"/>
              <a:t> </a:t>
            </a:r>
            <a:r>
              <a:rPr lang="en-US" altLang="ko-KR" dirty="0" err="1"/>
              <a:t>pd</a:t>
            </a:r>
            <a:r>
              <a:rPr lang="en-US" altLang="ko-KR" b="1" dirty="0" err="1">
                <a:solidFill>
                  <a:srgbClr val="8250DF"/>
                </a:solidFill>
                <a:effectLst/>
              </a:rPr>
              <a:t>.</a:t>
            </a:r>
            <a:r>
              <a:rPr lang="en-US" altLang="ko-KR" dirty="0" err="1"/>
              <a:t>get_dummies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(</a:t>
            </a:r>
            <a:r>
              <a:rPr lang="en-US" altLang="ko-KR" dirty="0" err="1"/>
              <a:t>df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)</a:t>
            </a:r>
            <a:r>
              <a:rPr lang="ko-KR" altLang="en-US" dirty="0">
                <a:solidFill>
                  <a:srgbClr val="0055AA"/>
                </a:solidFill>
                <a:effectLst/>
              </a:rPr>
              <a:t>를 사용해주었다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.</a:t>
            </a:r>
          </a:p>
          <a:p>
            <a:endParaRPr lang="en-US" altLang="ko-KR" dirty="0">
              <a:solidFill>
                <a:srgbClr val="0055AA"/>
              </a:solidFill>
              <a:effectLst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895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Nan</a:t>
            </a:r>
            <a:r>
              <a:rPr lang="ko-KR" altLang="en-US" dirty="0"/>
              <a:t> 즉</a:t>
            </a:r>
            <a:r>
              <a:rPr lang="en-US" altLang="ko-KR" dirty="0"/>
              <a:t>, </a:t>
            </a:r>
            <a:r>
              <a:rPr lang="ko-KR" altLang="en-US" dirty="0" err="1"/>
              <a:t>결측치가</a:t>
            </a:r>
            <a:r>
              <a:rPr lang="ko-KR" altLang="en-US" dirty="0"/>
              <a:t> 없이 모두 </a:t>
            </a:r>
            <a:r>
              <a:rPr lang="ko-KR" altLang="en-US" dirty="0" err="1"/>
              <a:t>채워진것을</a:t>
            </a:r>
            <a:r>
              <a:rPr lang="ko-KR" altLang="en-US" dirty="0"/>
              <a:t> 확인 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497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df_corr</a:t>
            </a:r>
            <a:r>
              <a:rPr lang="en-US" altLang="ko-KR" b="1" dirty="0">
                <a:solidFill>
                  <a:srgbClr val="8250DF"/>
                </a:solidFill>
                <a:effectLst/>
              </a:rPr>
              <a:t>=</a:t>
            </a:r>
            <a:r>
              <a:rPr lang="en-US" altLang="ko-KR" dirty="0" err="1"/>
              <a:t>df</a:t>
            </a:r>
            <a:r>
              <a:rPr lang="en-US" altLang="ko-KR" b="1" dirty="0" err="1">
                <a:solidFill>
                  <a:srgbClr val="8250DF"/>
                </a:solidFill>
                <a:effectLst/>
              </a:rPr>
              <a:t>.</a:t>
            </a:r>
            <a:r>
              <a:rPr lang="en-US" altLang="ko-KR" dirty="0" err="1"/>
              <a:t>corr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() </a:t>
            </a:r>
            <a:r>
              <a:rPr lang="ko-KR" altLang="en-US" dirty="0">
                <a:solidFill>
                  <a:srgbClr val="0055AA"/>
                </a:solidFill>
                <a:effectLst/>
              </a:rPr>
              <a:t>데이터의 상관관계를 알 수 있는 함수</a:t>
            </a:r>
            <a:endParaRPr lang="en-US" altLang="ko-KR" dirty="0">
              <a:solidFill>
                <a:srgbClr val="0055AA"/>
              </a:solidFill>
              <a:effectLst/>
            </a:endParaRPr>
          </a:p>
          <a:p>
            <a:r>
              <a:rPr lang="en-US" altLang="ko-KR" dirty="0" err="1"/>
              <a:t>df_corr_sort</a:t>
            </a:r>
            <a:r>
              <a:rPr lang="en-US" altLang="ko-KR" b="1" dirty="0">
                <a:solidFill>
                  <a:srgbClr val="8250DF"/>
                </a:solidFill>
                <a:effectLst/>
              </a:rPr>
              <a:t>=</a:t>
            </a:r>
            <a:r>
              <a:rPr lang="en-US" altLang="ko-KR" dirty="0" err="1"/>
              <a:t>df_corr</a:t>
            </a:r>
            <a:r>
              <a:rPr lang="en-US" altLang="ko-KR" b="1" dirty="0" err="1">
                <a:solidFill>
                  <a:srgbClr val="8250DF"/>
                </a:solidFill>
                <a:effectLst/>
              </a:rPr>
              <a:t>.</a:t>
            </a:r>
            <a:r>
              <a:rPr lang="en-US" altLang="ko-KR" dirty="0" err="1"/>
              <a:t>sort_values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(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'</a:t>
            </a:r>
            <a:r>
              <a:rPr lang="en-US" altLang="ko-KR" dirty="0" err="1">
                <a:solidFill>
                  <a:srgbClr val="BA2121"/>
                </a:solidFill>
                <a:effectLst/>
              </a:rPr>
              <a:t>SalePrice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'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,</a:t>
            </a:r>
            <a:r>
              <a:rPr lang="en-US" altLang="ko-KR" dirty="0"/>
              <a:t> ascending</a:t>
            </a:r>
            <a:r>
              <a:rPr lang="en-US" altLang="ko-KR" b="1" dirty="0">
                <a:solidFill>
                  <a:srgbClr val="8250DF"/>
                </a:solidFill>
                <a:effectLst/>
              </a:rPr>
              <a:t>=</a:t>
            </a:r>
            <a:r>
              <a:rPr lang="en-US" altLang="ko-KR" b="1" dirty="0">
                <a:solidFill>
                  <a:srgbClr val="1A7F37"/>
                </a:solidFill>
                <a:effectLst/>
              </a:rPr>
              <a:t>False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)</a:t>
            </a:r>
            <a:r>
              <a:rPr lang="en-US" altLang="ko-KR" dirty="0"/>
              <a:t> </a:t>
            </a:r>
            <a:r>
              <a:rPr lang="ko-KR" altLang="en-US" dirty="0"/>
              <a:t>는 </a:t>
            </a:r>
            <a:r>
              <a:rPr lang="en-US" altLang="ko-KR" dirty="0" err="1">
                <a:solidFill>
                  <a:srgbClr val="BA2121"/>
                </a:solidFill>
                <a:effectLst/>
              </a:rPr>
              <a:t>SalePrice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 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즉 집값에 상관관계가 있는 것들만 가지고 와 내림차순으로 가져오도록 했다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.</a:t>
            </a:r>
          </a:p>
          <a:p>
            <a:r>
              <a:rPr lang="en-US" altLang="ko-KR" dirty="0" err="1"/>
              <a:t>df_corr_sort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[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'</a:t>
            </a:r>
            <a:r>
              <a:rPr lang="en-US" altLang="ko-KR" dirty="0" err="1">
                <a:solidFill>
                  <a:srgbClr val="BA2121"/>
                </a:solidFill>
                <a:effectLst/>
              </a:rPr>
              <a:t>SalePrice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'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]</a:t>
            </a:r>
            <a:r>
              <a:rPr lang="en-US" altLang="ko-KR" b="1" dirty="0">
                <a:solidFill>
                  <a:srgbClr val="8250DF"/>
                </a:solidFill>
                <a:effectLst/>
              </a:rPr>
              <a:t>.</a:t>
            </a:r>
            <a:r>
              <a:rPr lang="en-US" altLang="ko-KR" dirty="0"/>
              <a:t>head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(</a:t>
            </a:r>
            <a:r>
              <a:rPr lang="en-US" altLang="ko-KR" dirty="0">
                <a:solidFill>
                  <a:srgbClr val="1A7F37"/>
                </a:solidFill>
                <a:effectLst/>
              </a:rPr>
              <a:t>10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)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는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 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집값에 </a:t>
            </a:r>
            <a:r>
              <a:rPr lang="ko-KR" altLang="en-US" dirty="0" err="1">
                <a:solidFill>
                  <a:srgbClr val="BA2121"/>
                </a:solidFill>
                <a:effectLst/>
              </a:rPr>
              <a:t>고나련있는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 항목 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10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개를 가져오라고 했다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.</a:t>
            </a:r>
          </a:p>
          <a:p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251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상관관계를 알아보기 위해 상관관계그래프를 보면 집값이 커지면 항목들의 값도 커지는 것을 알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761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상관관계가 깊은 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'OverallQual'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,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'GrLivArea'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,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'GarageCars'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,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'GarageArea'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,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'TotalBsmtSF’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의 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5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가지의 항목을 </a:t>
            </a:r>
            <a:r>
              <a:rPr lang="en-US" altLang="ko-KR" dirty="0" err="1"/>
              <a:t>cols_train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리스트</a:t>
            </a:r>
            <a:r>
              <a:rPr lang="ko-KR" altLang="en-US" dirty="0"/>
              <a:t>에 저장 해보겠다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X_train_pre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en-US" altLang="ko-KR" dirty="0" err="1"/>
              <a:t>cols_train</a:t>
            </a:r>
            <a:r>
              <a:rPr lang="en-US" altLang="ko-KR" dirty="0"/>
              <a:t> 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리스트에 있는 항목만 </a:t>
            </a:r>
            <a:r>
              <a:rPr lang="en-US" altLang="ko-KR" dirty="0" err="1">
                <a:solidFill>
                  <a:srgbClr val="BA2121"/>
                </a:solidFill>
                <a:effectLst/>
              </a:rPr>
              <a:t>df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에서 가져와 저장한다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. 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즉 학습셋을 만들어 주었다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.</a:t>
            </a:r>
          </a:p>
          <a:p>
            <a:r>
              <a:rPr lang="en-US" altLang="ko-KR" dirty="0"/>
              <a:t>y </a:t>
            </a:r>
            <a:r>
              <a:rPr lang="en-US" altLang="ko-KR" b="1" dirty="0">
                <a:solidFill>
                  <a:srgbClr val="8250DF"/>
                </a:solidFill>
                <a:effectLst/>
              </a:rPr>
              <a:t>=</a:t>
            </a:r>
            <a:r>
              <a:rPr lang="en-US" altLang="ko-KR" dirty="0"/>
              <a:t> </a:t>
            </a:r>
            <a:r>
              <a:rPr lang="en-US" altLang="ko-KR" dirty="0" err="1"/>
              <a:t>df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[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'</a:t>
            </a:r>
            <a:r>
              <a:rPr lang="en-US" altLang="ko-KR" dirty="0" err="1">
                <a:solidFill>
                  <a:srgbClr val="BA2121"/>
                </a:solidFill>
                <a:effectLst/>
              </a:rPr>
              <a:t>SalePrice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'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]</a:t>
            </a:r>
            <a:r>
              <a:rPr lang="en-US" altLang="ko-KR" b="1" dirty="0">
                <a:solidFill>
                  <a:srgbClr val="8250DF"/>
                </a:solidFill>
                <a:effectLst/>
              </a:rPr>
              <a:t>.</a:t>
            </a:r>
            <a:r>
              <a:rPr lang="en-US" altLang="ko-KR" dirty="0"/>
              <a:t>values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라고 하여 </a:t>
            </a:r>
            <a:r>
              <a:rPr lang="en-US" altLang="ko-KR" dirty="0" err="1">
                <a:solidFill>
                  <a:srgbClr val="BA2121"/>
                </a:solidFill>
                <a:effectLst/>
              </a:rPr>
              <a:t>SalePrice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인 클래스에 해당되는 값을 저장한다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. 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X_train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,</a:t>
            </a:r>
            <a:r>
              <a:rPr lang="en-US" altLang="ko-KR" dirty="0"/>
              <a:t> </a:t>
            </a:r>
            <a:r>
              <a:rPr lang="en-US" altLang="ko-KR" dirty="0" err="1"/>
              <a:t>X_test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,</a:t>
            </a:r>
            <a:r>
              <a:rPr lang="en-US" altLang="ko-KR" dirty="0"/>
              <a:t> </a:t>
            </a:r>
            <a:r>
              <a:rPr lang="en-US" altLang="ko-KR" dirty="0" err="1"/>
              <a:t>y_train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,</a:t>
            </a:r>
            <a:r>
              <a:rPr lang="en-US" altLang="ko-KR" dirty="0"/>
              <a:t> </a:t>
            </a:r>
            <a:r>
              <a:rPr lang="en-US" altLang="ko-KR" dirty="0" err="1"/>
              <a:t>y_test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8250DF"/>
                </a:solidFill>
                <a:effectLst/>
              </a:rPr>
              <a:t>=</a:t>
            </a:r>
            <a:r>
              <a:rPr lang="en-US" altLang="ko-KR" dirty="0"/>
              <a:t> </a:t>
            </a:r>
            <a:r>
              <a:rPr lang="en-US" altLang="ko-KR" dirty="0" err="1"/>
              <a:t>train_test_split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(</a:t>
            </a:r>
            <a:r>
              <a:rPr lang="en-US" altLang="ko-KR" dirty="0" err="1"/>
              <a:t>X_train_pre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,</a:t>
            </a:r>
            <a:r>
              <a:rPr lang="en-US" altLang="ko-KR" dirty="0"/>
              <a:t> y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,</a:t>
            </a:r>
            <a:r>
              <a:rPr lang="en-US" altLang="ko-KR" dirty="0"/>
              <a:t> </a:t>
            </a:r>
            <a:r>
              <a:rPr lang="en-US" altLang="ko-KR" dirty="0" err="1"/>
              <a:t>test_size</a:t>
            </a:r>
            <a:r>
              <a:rPr lang="en-US" altLang="ko-KR" b="1" dirty="0">
                <a:solidFill>
                  <a:srgbClr val="8250DF"/>
                </a:solidFill>
                <a:effectLst/>
              </a:rPr>
              <a:t>=</a:t>
            </a:r>
            <a:r>
              <a:rPr lang="en-US" altLang="ko-KR" dirty="0">
                <a:solidFill>
                  <a:srgbClr val="1A7F37"/>
                </a:solidFill>
                <a:effectLst/>
              </a:rPr>
              <a:t>0.2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) </a:t>
            </a:r>
            <a:r>
              <a:rPr lang="ko-KR" altLang="en-US" dirty="0">
                <a:solidFill>
                  <a:srgbClr val="0055AA"/>
                </a:solidFill>
                <a:effectLst/>
              </a:rPr>
              <a:t>학습셋과 테스트셋을 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8:2 </a:t>
            </a:r>
            <a:r>
              <a:rPr lang="ko-KR" altLang="en-US" dirty="0">
                <a:solidFill>
                  <a:srgbClr val="0055AA"/>
                </a:solidFill>
                <a:effectLst/>
              </a:rPr>
              <a:t>로 나눈다</a:t>
            </a:r>
            <a:r>
              <a:rPr lang="en-US" altLang="ko-KR" dirty="0">
                <a:solidFill>
                  <a:srgbClr val="0055AA"/>
                </a:solidFill>
                <a:effectLst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356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이번에는 </a:t>
            </a:r>
            <a:r>
              <a:rPr lang="ko-KR" altLang="en-US" dirty="0" err="1"/>
              <a:t>둘중에</a:t>
            </a:r>
            <a:r>
              <a:rPr lang="ko-KR" altLang="en-US" dirty="0"/>
              <a:t> 하나를 가져오는 것이 아니라 집값이 얼마인지를 가져오는 모델이므로 선형회귀 모델을 사용해야 한다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그래서 </a:t>
            </a:r>
            <a:r>
              <a:rPr lang="en-US" altLang="ko-KR" dirty="0" err="1">
                <a:solidFill>
                  <a:srgbClr val="BA2121"/>
                </a:solidFill>
                <a:effectLst/>
              </a:rPr>
              <a:t>mean_squared_error</a:t>
            </a:r>
            <a:r>
              <a:rPr lang="ko-KR" altLang="en-US" dirty="0">
                <a:solidFill>
                  <a:srgbClr val="BA2121"/>
                </a:solidFill>
                <a:effectLst/>
              </a:rPr>
              <a:t>를 사용했다</a:t>
            </a:r>
            <a:r>
              <a:rPr lang="en-US" altLang="ko-KR" dirty="0">
                <a:solidFill>
                  <a:srgbClr val="BA2121"/>
                </a:solidFill>
                <a:effectLst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6615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검증셋과 테스트 셋을 만들어서 학습을 시켜보겠다</a:t>
            </a:r>
            <a:r>
              <a:rPr lang="en-US" altLang="ko-KR" dirty="0"/>
              <a:t>,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ADBE4-966B-4F0C-AF81-59D2D1B847A2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758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671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0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68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2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2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0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83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7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6/5/2025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6/5/2025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45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6/5/2025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55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6/5/2025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7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80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29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8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39871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737102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66641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8291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81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1452766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1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77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8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60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912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89738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556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850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4862BFA-C828-2446-9B72-82AD7C7C4D28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79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275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EF40C587-CD89-8C40-AE01-36B25C2FD636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985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234BB27-D512-944F-BD47-D639527B0043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803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>
                <a:solidFill>
                  <a:srgbClr val="464646"/>
                </a:solidFill>
              </a:rPr>
              <a:pPr>
                <a:defRPr/>
              </a:pPr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112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>
                <a:solidFill>
                  <a:srgbClr val="464646"/>
                </a:solidFill>
              </a:rPr>
              <a:pPr>
                <a:defRPr/>
              </a:pPr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0087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>
                <a:solidFill>
                  <a:srgbClr val="464646"/>
                </a:solidFill>
              </a:rPr>
              <a:pPr>
                <a:defRPr/>
              </a:pPr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008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>
                <a:solidFill>
                  <a:srgbClr val="464646"/>
                </a:solidFill>
              </a:rPr>
              <a:pPr>
                <a:defRPr/>
              </a:pPr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643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7E81C33E-41CC-7144-9EE9-6BB47BFC27EB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38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BEBC88-5945-6548-81AC-D1E801230918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00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917FCC0-BCF1-7F40-94F0-C8B3ACD33893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35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08CA98B9-3ABE-A242-9F6B-DA9BAB124A35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92929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305156-B5F0-8F44-9B3B-B829BD25E71A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5637099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DAB5F46-2B7F-5B4D-AD94-C45166DC40CF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529627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6E7C3E9F-FCDE-664F-9336-1ABBAA0EA927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35443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6354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38040388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704DA2EC-FE51-234C-8874-87F532D5C722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238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036BB0B-C07A-EF4C-ADBF-B404E3B41965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522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8600531E-1DA2-B34A-93A6-C570B815175C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932E4664-5CFD-1A4D-9B41-76CFD729FE90}" type="datetime1">
              <a:rPr lang="en-US" smtClean="0">
                <a:solidFill>
                  <a:srgbClr val="464646"/>
                </a:solidFill>
              </a:rPr>
              <a:pPr/>
              <a:t>6/5/2025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07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6/5/2025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10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224864"/>
            <a:ext cx="9144000" cy="189542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E06361"/>
                </a:solidFill>
              </a:rPr>
              <a:t>넷째마당</a:t>
            </a:r>
            <a:endParaRPr lang="en-US" altLang="ko-KR" sz="5400" dirty="0">
              <a:solidFill>
                <a:srgbClr val="E06361"/>
              </a:solidFill>
            </a:endParaRPr>
          </a:p>
          <a:p>
            <a:pPr algn="ctr"/>
            <a:r>
              <a:rPr lang="ko-KR" altLang="en-US" sz="5400" dirty="0">
                <a:solidFill>
                  <a:schemeClr val="tx2"/>
                </a:solidFill>
              </a:rPr>
              <a:t>딥러닝 기본기 다지기 </a:t>
            </a:r>
            <a:endParaRPr lang="en-US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03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424296" y="375829"/>
            <a:ext cx="8410623" cy="80649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lvl="0" algn="ctr" defTabSz="457200">
              <a:spcBef>
                <a:spcPct val="0"/>
              </a:spcBef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15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장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rPr>
              <a:t>실제 데이터로 만들어 보는 모델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j-cs"/>
            </a:endParaRPr>
          </a:p>
        </p:txBody>
      </p:sp>
      <p:cxnSp>
        <p:nvCxnSpPr>
          <p:cNvPr id="5" name="직선 연결선 4"/>
          <p:cNvCxnSpPr>
            <a:cxnSpLocks/>
          </p:cNvCxnSpPr>
          <p:nvPr/>
        </p:nvCxnSpPr>
        <p:spPr>
          <a:xfrm flipV="1">
            <a:off x="1669002" y="1181176"/>
            <a:ext cx="5983549" cy="12458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159893" y="1643183"/>
            <a:ext cx="6041348" cy="2470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 파악하기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0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결측치</a:t>
            </a:r>
            <a:r>
              <a:rPr lang="en-US" altLang="ko-KR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카테고리 변수 처리하기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속성별 관련도 추출하기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20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4 </a:t>
            </a:r>
            <a:r>
              <a:rPr lang="ko-KR" altLang="en-US" sz="20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en-US" altLang="ko-KR" sz="20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 실제 데이터로 만들어 보는 모델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실제 데이터로 만들어 보는 모델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44019DB-F268-4B9C-954E-2B3A3C7FD4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38" y="1873611"/>
            <a:ext cx="625792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868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 파악하기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7578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 파악하기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 파악하기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데이터를 불러와 확인해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ED89DFE-24D4-4722-8BFF-D290684A8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172686"/>
            <a:ext cx="706755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610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 파악하기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 파악하기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데이터를 미리 살펴보자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2435467-FD95-42DF-BA0C-6A7B70786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161646"/>
            <a:ext cx="706755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232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 파악하기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 파악하기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1D5FB2-3415-4BCA-9ED0-4381D1DD8C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1873611"/>
            <a:ext cx="7115175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5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 파악하기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 파악하기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7811404-D0D1-454D-B63E-C3FEE1618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509" y="1881524"/>
            <a:ext cx="7096125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951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 파악하기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 파악하기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각 데이터가 어떤 유형으로 되어 있는지 알아보자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22ACD9-47CC-4423-B284-4AD2A2BED4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219253"/>
            <a:ext cx="7077075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454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 파악하기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데이터 파악하기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26AB004-A9F6-4E86-AD9C-0C84A54BF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066" y="1859347"/>
            <a:ext cx="711517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36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11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 </a:t>
            </a:r>
            <a:r>
              <a:rPr lang="ko-KR" altLang="en-US" sz="2600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결측치</a:t>
            </a:r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카테고리 변수 처리하기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6185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결측치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카테고리 변수 처리하기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결측치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카테고리 변수 처리하기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앞 장에서 다루었던 데이터와 차이점은 아직 전처리가 끝나지 않은 상태의 데이터라 측정 값이 없는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결측치가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있다는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결측치가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있는지 알아보는 함수는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isnull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결측치가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모두 몇 개인지 세어 가장 많은 것부터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내림차순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순서대로 나열한 후 처음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개만 출력하는 코드는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D943EF-2C53-4E0F-80F1-B505E9364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3371393"/>
            <a:ext cx="708660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259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결측치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카테고리 변수 처리하기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결측치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카테고리 변수 처리하기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216E7C8-7104-46FB-9DBC-25B8160B09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37" y="1873611"/>
            <a:ext cx="709612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7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결측치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카테고리 변수 처리하기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결측치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카테고리 변수 처리하기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1BD66C-04D7-4D53-8B36-F0178AB8F3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873611"/>
            <a:ext cx="7086600" cy="23907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31F7D2F-AE6D-4047-BAEB-BB61D11E0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37" y="4235498"/>
            <a:ext cx="709612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50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결측치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카테고리 변수 처리하기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결측치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카테고리 변수 처리하기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모델을 만들기 위해 데이터를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전처리하겠음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12.3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절에서 소개되었던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판다스의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get_dummies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이용해 카테고리형 변수를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이루어진 변수로 바꾸어 줌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A9ECC6D-7AB9-4C50-9B36-75AB9A363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795323"/>
            <a:ext cx="707707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898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결측치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카테고리 변수 처리하기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결측치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카테고리 변수 처리하기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결측치를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채워 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결측치를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채워 주는 함수는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판다스의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fillna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괄호 안에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df.mean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넣어 주면 평균값으로 채워 줌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9C7391F-47AA-4A6F-9365-1572F95E71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852930"/>
            <a:ext cx="709612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45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결측치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카테고리 변수 처리하기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결측치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카테고리 변수 처리하기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특정한 값으로 대체하려면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fillna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함수의 괄호 안에 해당 값을 적으면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결측치를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모두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으로 바꾸려면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fillna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(0)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dropna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사용하면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결측치가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있는 속성을 제거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dropna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(how='any')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결측치가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하나라도 있으면 삭제하라는 의미이고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dropna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(how='all')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 모든 값이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결측치일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때 삭제하라는 의미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39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결측치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카테고리 변수 처리하기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결측치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카테고리 변수 처리하기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업데이트된 데이터 프레임을 출력해 보자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3081A04-036F-4525-A35F-1ADE8990BE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161646"/>
            <a:ext cx="7105650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343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결측치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카테고리 변수 처리하기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결측치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카테고리 변수 처리하기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4062CDC-06E1-4963-9119-3D5A711BC3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25" y="1909762"/>
            <a:ext cx="714375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445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결측치</a:t>
            </a:r>
            <a:r>
              <a:rPr lang="en-US" altLang="ko-KR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카테고리 변수 처리하기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결측치</a:t>
            </a:r>
            <a:r>
              <a:rPr lang="en-US" altLang="ko-KR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카테고리 변수 처리하기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결측치는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보이지 않으며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카테고리형 변수를 모두 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 처리하므로 전체 열이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81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개에서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290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개로 늘었음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C88884C-88D4-42F3-9024-8457A0BDB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66" y="1873611"/>
            <a:ext cx="710565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874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21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3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속성별 관련도 추출하기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5028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속성별 관련도 추출하기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속성별 관련도 추출하기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중에서 우리에게 필요한 정보를 추출해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   데이터 사이의 상관관계를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df_corr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변수에 저장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집 값과 관련이 큰 것부터 순서대로 정렬해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df_corr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_ sort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변수에 저장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  집 값과 관련도가 가장 큰 열 개의 속성들을 출력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BAC3EBD-0980-4D23-A136-6B52A8EF6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707" y="2240131"/>
            <a:ext cx="209550" cy="2095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52024D4-5A58-4392-B122-F3FF46394F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458" y="2564895"/>
            <a:ext cx="209550" cy="2095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E112D1A-B3BE-48DE-BAFA-51D03FA713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910537"/>
            <a:ext cx="209550" cy="20955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40125B0-DC50-4C20-99B7-023F431A47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591" y="3198572"/>
            <a:ext cx="710565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284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속성별 관련도 추출하기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속성별 관련도 추출하기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51C6D57-27E2-4081-AEE4-881FC52F6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366" y="1857519"/>
            <a:ext cx="7105650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6773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속성별 관련도 추출하기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속성별 관련도 추출하기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추출된 속성들과 집 값의 관련도를 시각적으로 확인하기 위해 상관도 그래프를 그려 보자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9308D27-EAFB-4AD3-82B6-AEE9189BF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184424"/>
            <a:ext cx="706755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250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속성별 관련도 추출하기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속성별 관련도 추출하기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E723675-BB15-449C-8830-BE08CCE553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491" y="1873611"/>
            <a:ext cx="7143750" cy="3924300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7C78F95E-DF44-440C-8692-3FCBFEBF1D56}"/>
              </a:ext>
            </a:extLst>
          </p:cNvPr>
          <p:cNvSpPr txBox="1">
            <a:spLocks/>
          </p:cNvSpPr>
          <p:nvPr/>
        </p:nvSpPr>
        <p:spPr>
          <a:xfrm>
            <a:off x="1288401" y="2222140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15-1 | </a:t>
            </a:r>
            <a:r>
              <a:rPr lang="ko-KR" altLang="en-US" sz="1600" b="1" dirty="0"/>
              <a:t>추출된 속성들과 집 값의 관련도 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50034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속성별 관련도 추출하기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속성별 관련도 추출하기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선택된 속성들이 집 값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SalePrice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과 양의 상관관계가 있음을 확인할 수 있음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빨간색 사각형으로 표시한 부분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BB1F3C9-2A6B-447A-91C0-CAC06A8D2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50" y="1912841"/>
            <a:ext cx="7124700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86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9D7BC1C-BEF1-FE43-BAF8-AEC9A285889D}" type="slidenum">
              <a:rPr lang="en-US" smtClean="0"/>
              <a:pPr/>
              <a:t>27</a:t>
            </a:fld>
            <a:endParaRPr lang="en-US" dirty="0"/>
          </a:p>
        </p:txBody>
      </p:sp>
      <p:cxnSp>
        <p:nvCxnSpPr>
          <p:cNvPr id="8" name="직선 연결선 7"/>
          <p:cNvCxnSpPr/>
          <p:nvPr/>
        </p:nvCxnSpPr>
        <p:spPr>
          <a:xfrm>
            <a:off x="1699773" y="3399300"/>
            <a:ext cx="5779950" cy="1113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8">
            <a:extLst>
              <a:ext uri="{FF2B5EF4-FFF2-40B4-BE49-F238E27FC236}">
                <a16:creationId xmlns:a16="http://schemas.microsoft.com/office/drawing/2014/main" id="{18896CAC-438E-47B8-B473-3418742DE5AB}"/>
              </a:ext>
            </a:extLst>
          </p:cNvPr>
          <p:cNvSpPr txBox="1">
            <a:spLocks/>
          </p:cNvSpPr>
          <p:nvPr/>
        </p:nvSpPr>
        <p:spPr>
          <a:xfrm>
            <a:off x="531274" y="2564895"/>
            <a:ext cx="8081453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4 </a:t>
            </a:r>
            <a:r>
              <a:rPr lang="ko-KR" altLang="en-US" sz="26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en-US" altLang="ko-KR" sz="2600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75417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앞서 구한 중요 속성을 이용해 학습셋과 테스트셋을 만들어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집 값을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y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나머지 열을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X_train_pre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저장한 후 전체의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80%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학습셋으로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20%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테스트셋으로 지정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C53DD2-2CFA-485A-995D-FA0B40961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813536"/>
            <a:ext cx="7067550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175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모델의 구조와 실행 옵션을 설정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입력될 속성의 개수를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X_train.shape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[1]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지정해 자동으로 세도록 했음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3C6363F-D60C-4BAC-9650-4728A1B68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591" y="2564895"/>
            <a:ext cx="710565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9083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실행에서 달라진 점은 손실 함수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선형 회귀이므로 평균 제곱 오차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mean_squared_error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적음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91CFB0F-9917-4D91-BF77-979EB35608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507288"/>
            <a:ext cx="7086600" cy="78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6418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 이상 결과가 향상되지 않으면 자동으로 중단되게끔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저장될 모델 이름을 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Ch15-house.hdf5’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정함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모델은 차후 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장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.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캐글로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시작하는 새로운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도전’에서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다시 사용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검증셋을 추가하고 싶을 경우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앞서와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마찬가지로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학습셋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검증셋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테스트셋의 비율을 각각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60%, 20%, 20%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정하면 됨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endParaRPr lang="ko-KR" altLang="en-US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8A14555-9FCA-4DCA-B34B-6DEAC4AA3C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3371393"/>
            <a:ext cx="712470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772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모든 코드를 실행하면 다음과 같음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A6709AF-5C4E-41EA-B2C4-3F8664811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412" y="2205265"/>
            <a:ext cx="7115175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5770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B08B018-18B5-4E94-83B5-CA850FC8E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973" y="1915367"/>
            <a:ext cx="7134225" cy="4191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67C85B9-B557-40A7-BAB1-6C21513CC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441" y="2334467"/>
            <a:ext cx="716280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7566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855E60E-9022-44E8-AE32-23F8A15D0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25" y="1931218"/>
            <a:ext cx="7067550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8346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AFD5C0C-A867-4EA7-8220-C6D78C6A0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87" y="1915054"/>
            <a:ext cx="7058025" cy="27813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BFC671D-743B-4CE0-B7B4-F99E17DCD6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87" y="4638747"/>
            <a:ext cx="705802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1870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885D63B-8FCA-4104-B3C0-49C234C62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885180"/>
            <a:ext cx="708660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9874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9D41A45-8FF0-4038-A35B-04FCBC130A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412" y="1873611"/>
            <a:ext cx="7115175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8301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EE6EDC9-6CAA-4F71-B177-309A2CD4C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873611"/>
            <a:ext cx="7086600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1003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145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번째에서 학습이 중단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325BB17-DB4D-42F2-B66B-F1B01E5AB2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412" y="1931218"/>
            <a:ext cx="711517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4433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학습 중단 시점은 실행할 때마다 다를 수 있음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5864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학습 결과를 시각화하기 위해 예측 값과 실제 값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실행 번호가 들어갈 빈 리스트를 만들고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25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개의 샘플로부터 얻은 결과를 채워 넣겠음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B1F369-9F29-4FD2-987D-DA1E0B6DA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80" y="2449681"/>
            <a:ext cx="7134225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7124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3915E68-3B70-4347-97A9-4DDB793ED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462" y="1873611"/>
            <a:ext cx="7077075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445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702B02-5AB2-47C8-B901-D7B150F8B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987" y="1861945"/>
            <a:ext cx="70580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3594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그래프를 통해 샘플로 뽑은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25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개의 값을 비교해 보자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F18FCB9-7582-4F3A-B765-38A41F76A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41" y="2184424"/>
            <a:ext cx="712470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3623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E8482A-D8E0-429A-B417-3E8632D64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" y="1889611"/>
            <a:ext cx="7105650" cy="4105275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2F5FA49C-BD58-4E88-98C0-6CB2D349B315}"/>
              </a:ext>
            </a:extLst>
          </p:cNvPr>
          <p:cNvSpPr txBox="1">
            <a:spLocks/>
          </p:cNvSpPr>
          <p:nvPr/>
        </p:nvSpPr>
        <p:spPr>
          <a:xfrm>
            <a:off x="1288401" y="2279747"/>
            <a:ext cx="8081453" cy="40036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15-2 | </a:t>
            </a:r>
            <a:r>
              <a:rPr lang="ko-KR" altLang="en-US" sz="1600" b="1" dirty="0"/>
              <a:t>실제 집 값과 예측된 집 값 비교 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90105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32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98995" y="1459935"/>
            <a:ext cx="8105496" cy="4964629"/>
          </a:xfrm>
        </p:spPr>
        <p:txBody>
          <a:bodyPr/>
          <a:lstStyle/>
          <a:p>
            <a:r>
              <a:rPr lang="ko-KR" altLang="en-US" sz="1800" b="1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주택 가격 예측 모델</a:t>
            </a:r>
            <a:endParaRPr lang="en-US" altLang="ko-KR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예측된 집 값의 곡선이 실제 집 값의 곡선과 유사하게 움직이고 있음을 볼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15-2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 출력되는 곡선의 전체적인 형태는 실행할 때마다 달라질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예측된 집 값의 곡선과 실제 집 값의 곡선이 유사하게 움직이면 잘 학습된 것</a:t>
            </a:r>
            <a:endParaRPr lang="ko-KR" altLang="en-US" sz="1800" b="1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199411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3742</TotalTime>
  <Words>1334</Words>
  <Application>Microsoft Office PowerPoint</Application>
  <PresentationFormat>화면 슬라이드 쇼(4:3)</PresentationFormat>
  <Paragraphs>205</Paragraphs>
  <Slides>46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46</vt:i4>
      </vt:variant>
    </vt:vector>
  </HeadingPairs>
  <TitlesOfParts>
    <vt:vector size="57" baseType="lpstr">
      <vt:lpstr>KoPub돋움체_Pro Bold</vt:lpstr>
      <vt:lpstr>KoPub돋움체_Pro Light</vt:lpstr>
      <vt:lpstr>KoPub돋움체_Pro Medium</vt:lpstr>
      <vt:lpstr>system-ui</vt:lpstr>
      <vt:lpstr>맑은 고딕</vt:lpstr>
      <vt:lpstr>Arial</vt:lpstr>
      <vt:lpstr>Calibri</vt:lpstr>
      <vt:lpstr>Verdana</vt:lpstr>
      <vt:lpstr>Wingdings</vt:lpstr>
      <vt:lpstr>1_Office Theme</vt:lpstr>
      <vt:lpstr>2_Office Theme</vt:lpstr>
      <vt:lpstr>PowerPoint 프레젠테이션</vt:lpstr>
      <vt:lpstr>PowerPoint 프레젠테이션</vt:lpstr>
      <vt:lpstr>  실제 데이터로 만들어 보는 모델</vt:lpstr>
      <vt:lpstr>PowerPoint 프레젠테이션</vt:lpstr>
      <vt:lpstr>1 데이터 파악하기</vt:lpstr>
      <vt:lpstr>1 데이터 파악하기</vt:lpstr>
      <vt:lpstr>1 데이터 파악하기</vt:lpstr>
      <vt:lpstr>1 데이터 파악하기</vt:lpstr>
      <vt:lpstr>1 데이터 파악하기</vt:lpstr>
      <vt:lpstr>1 데이터 파악하기</vt:lpstr>
      <vt:lpstr>PowerPoint 프레젠테이션</vt:lpstr>
      <vt:lpstr>2 결측치, 카테고리 변수 처리하기</vt:lpstr>
      <vt:lpstr>2 결측치, 카테고리 변수 처리하기</vt:lpstr>
      <vt:lpstr>2 결측치, 카테고리 변수 처리하기</vt:lpstr>
      <vt:lpstr>2 결측치, 카테고리 변수 처리하기</vt:lpstr>
      <vt:lpstr>2 결측치, 카테고리 변수 처리하기</vt:lpstr>
      <vt:lpstr>2 결측치, 카테고리 변수 처리하기</vt:lpstr>
      <vt:lpstr>2 결측치, 카테고리 변수 처리하기</vt:lpstr>
      <vt:lpstr>2 결측치, 카테고리 변수 처리하기</vt:lpstr>
      <vt:lpstr>2 결측치, 카테고리 변수 처리하기</vt:lpstr>
      <vt:lpstr>PowerPoint 프레젠테이션</vt:lpstr>
      <vt:lpstr>3 속성별 관련도 추출하기</vt:lpstr>
      <vt:lpstr>3 속성별 관련도 추출하기</vt:lpstr>
      <vt:lpstr>3 속성별 관련도 추출하기</vt:lpstr>
      <vt:lpstr>3 속성별 관련도 추출하기</vt:lpstr>
      <vt:lpstr>3 속성별 관련도 추출하기</vt:lpstr>
      <vt:lpstr>PowerPoint 프레젠테이션</vt:lpstr>
      <vt:lpstr>4 주택 가격 예측 모델</vt:lpstr>
      <vt:lpstr>4 주택 가격 예측 모델</vt:lpstr>
      <vt:lpstr>4 주택 가격 예측 모델</vt:lpstr>
      <vt:lpstr>4 주택 가격 예측 모델</vt:lpstr>
      <vt:lpstr>4 주택 가격 예측 모델</vt:lpstr>
      <vt:lpstr>4 주택 가격 예측 모델</vt:lpstr>
      <vt:lpstr>4 주택 가격 예측 모델</vt:lpstr>
      <vt:lpstr>4 주택 가격 예측 모델</vt:lpstr>
      <vt:lpstr>4 주택 가격 예측 모델</vt:lpstr>
      <vt:lpstr>4 주택 가격 예측 모델</vt:lpstr>
      <vt:lpstr>4 주택 가격 예측 모델</vt:lpstr>
      <vt:lpstr>4 주택 가격 예측 모델</vt:lpstr>
      <vt:lpstr>4 주택 가격 예측 모델</vt:lpstr>
      <vt:lpstr>4 주택 가격 예측 모델</vt:lpstr>
      <vt:lpstr>4 주택 가격 예측 모델</vt:lpstr>
      <vt:lpstr>4 주택 가격 예측 모델</vt:lpstr>
      <vt:lpstr>4 주택 가격 예측 모델</vt:lpstr>
      <vt:lpstr>4 주택 가격 예측 모델</vt:lpstr>
      <vt:lpstr>4 주택 가격 예측 모델</vt:lpstr>
    </vt:vector>
  </TitlesOfParts>
  <Company>The National Academies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Ellinger</dc:creator>
  <cp:lastModifiedBy>user</cp:lastModifiedBy>
  <cp:revision>527</cp:revision>
  <cp:lastPrinted>2016-08-10T06:58:55Z</cp:lastPrinted>
  <dcterms:created xsi:type="dcterms:W3CDTF">2013-04-05T19:58:06Z</dcterms:created>
  <dcterms:modified xsi:type="dcterms:W3CDTF">2025-06-05T08:02:05Z</dcterms:modified>
</cp:coreProperties>
</file>