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17"/>
  </p:notesMasterIdLst>
  <p:handoutMasterIdLst>
    <p:handoutMasterId r:id="rId18"/>
  </p:handoutMasterIdLst>
  <p:sldIdLst>
    <p:sldId id="267" r:id="rId3"/>
    <p:sldId id="270" r:id="rId4"/>
    <p:sldId id="278" r:id="rId5"/>
    <p:sldId id="272" r:id="rId6"/>
    <p:sldId id="279" r:id="rId7"/>
    <p:sldId id="280" r:id="rId8"/>
    <p:sldId id="288" r:id="rId9"/>
    <p:sldId id="281" r:id="rId10"/>
    <p:sldId id="294" r:id="rId11"/>
    <p:sldId id="297" r:id="rId12"/>
    <p:sldId id="296" r:id="rId13"/>
    <p:sldId id="298" r:id="rId14"/>
    <p:sldId id="299" r:id="rId15"/>
    <p:sldId id="300" r:id="rId16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7" d="100"/>
          <a:sy n="107" d="100"/>
        </p:scale>
        <p:origin x="1728" y="45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5/30/2025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5/30/2025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5/30/2025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5/30/2025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넷째마당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딥러닝 기본기 다지기 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10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딥러닝 모델 설계하기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1740023" y="1181435"/>
            <a:ext cx="5788241" cy="12051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6041348" cy="2470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모델의 정의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입력층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은닉층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출력층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컴파일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실행하기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딥러닝 모델 설계하기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모델 설계하기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가끔 어려운 수식이 나오기도 했지만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모든 개념이 머릿속에 정리되었다면 여러분을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세계로 성큼성큼 안내해 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텐서플로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함께 지금부터 초고속으로 전진할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지금부터는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기본 개념들이 실전에서는 어떤 방식으로 구현되는지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왜 우리가 그 어려운 개념들을 익혀야 했는지 공부하겠음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장에서 소개한 ‘폐암 수술 환자의 생존율 예측하기’ 예제를 기억하나요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당시에는 딥러닝 모델 부분을 자세히 설명할 수 없었지만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설명할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여러분은 앞서 배운 내용이 이 짧은 코드 안에 모두 들어 있다는 사실에 감탄할지도 모름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머릿속에 차곡차곡 들어찬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개념들이 어떻게 활용되는지 지금부터 함께 알아보자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1852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모델의 정의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578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모델의 정의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모델의 정의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‘폐암 수술 환자의 생존율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예측하기’의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딥러닝 코드를 다시 한 번 옮겨 보면 다음과 같음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7F841C-FB1A-77BB-D992-6A13DCCE2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45" y="2737716"/>
            <a:ext cx="7097115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2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모델의 정의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모델의 정의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D3D467-27D5-43D5-A762-583A418AE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1931218"/>
            <a:ext cx="7200900" cy="32766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2CA1766-E1F9-ED39-5FFA-9DD23C391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568" y="4523533"/>
            <a:ext cx="2822743" cy="21911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FC76C5-B493-4C0B-5370-C6DF52EA5123}"/>
              </a:ext>
            </a:extLst>
          </p:cNvPr>
          <p:cNvSpPr txBox="1"/>
          <p:nvPr/>
        </p:nvSpPr>
        <p:spPr>
          <a:xfrm>
            <a:off x="1806864" y="5041996"/>
            <a:ext cx="3629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model.add</a:t>
            </a:r>
            <a:r>
              <a:rPr lang="en-US" altLang="ko-KR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( )</a:t>
            </a:r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로 시작되는 라인이 두 개 있으므로 층을 두 개 가진 모델을 만든 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B8BE38-4B37-9938-A71D-FC8D8BAE87D1}"/>
              </a:ext>
            </a:extLst>
          </p:cNvPr>
          <p:cNvSpPr txBox="1"/>
          <p:nvPr/>
        </p:nvSpPr>
        <p:spPr>
          <a:xfrm>
            <a:off x="1792619" y="5561511"/>
            <a:ext cx="3874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맨 마지막 층은 결과를 출력하는 ‘</a:t>
            </a:r>
            <a:r>
              <a:rPr lang="ko-KR" altLang="en-US" sz="1400" dirty="0" err="1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출력층’이</a:t>
            </a:r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 됨</a:t>
            </a:r>
            <a:endParaRPr lang="en-US" altLang="ko-KR" sz="1400" dirty="0">
              <a:solidFill>
                <a:srgbClr val="FF000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나머지는 모두 ‘</a:t>
            </a:r>
            <a:r>
              <a:rPr lang="ko-KR" altLang="en-US" sz="1400" dirty="0" err="1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은닉층’의</a:t>
            </a:r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 역할을 함</a:t>
            </a:r>
            <a:endParaRPr lang="en-US" altLang="ko-KR" sz="1400" dirty="0">
              <a:solidFill>
                <a:srgbClr val="FF000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32A4F4-4FD8-5FBD-A033-71C325812FBC}"/>
              </a:ext>
            </a:extLst>
          </p:cNvPr>
          <p:cNvSpPr txBox="1"/>
          <p:nvPr/>
        </p:nvSpPr>
        <p:spPr>
          <a:xfrm>
            <a:off x="1806864" y="6083679"/>
            <a:ext cx="42947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Dense</a:t>
            </a:r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라는 함수를 통해 구체적으로 그 구조가 결정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872CA5-F59E-1FC1-57C7-0F0AD194820D}"/>
              </a:ext>
            </a:extLst>
          </p:cNvPr>
          <p:cNvSpPr txBox="1"/>
          <p:nvPr/>
        </p:nvSpPr>
        <p:spPr>
          <a:xfrm>
            <a:off x="2945679" y="3502235"/>
            <a:ext cx="4980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Sequential() </a:t>
            </a:r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함수를 </a:t>
            </a:r>
            <a:r>
              <a:rPr lang="en-US" altLang="ko-KR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model</a:t>
            </a:r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로 선언해 놓고 </a:t>
            </a:r>
            <a:r>
              <a:rPr lang="en-US" altLang="ko-KR" sz="1400" dirty="0" err="1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model.add</a:t>
            </a:r>
            <a:r>
              <a:rPr lang="en-US" altLang="ko-KR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라는 </a:t>
            </a:r>
            <a:endParaRPr lang="en-US" altLang="ko-KR" sz="1400" dirty="0">
              <a:solidFill>
                <a:srgbClr val="FF000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라인을 추가하면 새로운 층이 만들어짐</a:t>
            </a:r>
            <a:endParaRPr lang="en-US" altLang="ko-KR" sz="1400" dirty="0">
              <a:solidFill>
                <a:srgbClr val="FF000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CCC3A1-0433-ECAA-DC98-E538B29AB354}"/>
              </a:ext>
            </a:extLst>
          </p:cNvPr>
          <p:cNvSpPr txBox="1"/>
          <p:nvPr/>
        </p:nvSpPr>
        <p:spPr>
          <a:xfrm>
            <a:off x="1792619" y="6482171"/>
            <a:ext cx="5899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출력 값을 하나로 정해서 보여 주어야 하므로 출력층의 노드 수는 한 개</a:t>
            </a:r>
            <a:endParaRPr lang="en-US" altLang="ko-KR" sz="1400" dirty="0">
              <a:solidFill>
                <a:srgbClr val="FF000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B99035-226E-998B-ABAA-643CE6B923C0}"/>
              </a:ext>
            </a:extLst>
          </p:cNvPr>
          <p:cNvSpPr txBox="1"/>
          <p:nvPr/>
        </p:nvSpPr>
        <p:spPr>
          <a:xfrm>
            <a:off x="4168751" y="4247304"/>
            <a:ext cx="2496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Activation</a:t>
            </a:r>
            <a:r>
              <a:rPr lang="ko-KR" altLang="en-US" sz="1400" dirty="0">
                <a:solidFill>
                  <a:srgbClr val="FF0000"/>
                </a:solidFill>
              </a:rPr>
              <a:t>은 활성화 함수이다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911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입력층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은닉층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출력층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입력층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은닉층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출력층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input_dim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변수는 입력 데이터에서 몇 개의 값을 가져올지 정하는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keras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입력층을 따로 만드는 것이 아니라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첫 번째 은닉층에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input_dim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적어 줌으로써 첫 번째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Dense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은닉층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+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입력층의 역할을 겸함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우리가 다루고 있는 폐암 수술 환자의 생존 여부 데이터에는 입력 값이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데이터에서 값을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 받아 은닉층의 노드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30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개로 보낸다는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활성화 함수로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시그모이드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(sigmoid)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0231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모델의 정의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모델의 정의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D23D04-E008-4FBA-88F0-D4F80B8DB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59" y="1816004"/>
            <a:ext cx="7077075" cy="1714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FEDAEE-78ED-E85A-16D6-C0727F22B73F}"/>
              </a:ext>
            </a:extLst>
          </p:cNvPr>
          <p:cNvSpPr txBox="1"/>
          <p:nvPr/>
        </p:nvSpPr>
        <p:spPr>
          <a:xfrm>
            <a:off x="3111068" y="2564895"/>
            <a:ext cx="4623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model.compile</a:t>
            </a:r>
            <a:r>
              <a:rPr lang="en-US" altLang="ko-KR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( ) </a:t>
            </a:r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부분은 앞에서 정한 모델을 컴퓨터가 </a:t>
            </a:r>
            <a:endParaRPr lang="en-US" altLang="ko-KR" sz="1400" dirty="0">
              <a:solidFill>
                <a:srgbClr val="FF000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알아들을 수 있게끔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ACCFF-1FF4-6D5C-D5E7-1BDE0F1E8132}"/>
              </a:ext>
            </a:extLst>
          </p:cNvPr>
          <p:cNvSpPr txBox="1"/>
          <p:nvPr/>
        </p:nvSpPr>
        <p:spPr>
          <a:xfrm>
            <a:off x="2125741" y="3198572"/>
            <a:ext cx="5157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model.fit</a:t>
            </a:r>
            <a:r>
              <a:rPr lang="en-US" altLang="ko-KR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으로 시작하는 부분은 모델을 실제로 수행하는 부분</a:t>
            </a:r>
            <a:endParaRPr lang="en-US" altLang="ko-KR" sz="1400" dirty="0">
              <a:solidFill>
                <a:srgbClr val="FF000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EFA85C91-7AE1-7536-0F2D-A5B83E0D53AF}"/>
              </a:ext>
            </a:extLst>
          </p:cNvPr>
          <p:cNvSpPr txBox="1">
            <a:spLocks/>
          </p:cNvSpPr>
          <p:nvPr/>
        </p:nvSpPr>
        <p:spPr>
          <a:xfrm>
            <a:off x="366689" y="3486606"/>
            <a:ext cx="8105496" cy="32940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model.compile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부분은 앞서 지정한 모델이 효과적으로 구현될 수 있게 여러 가지 환경을 설정해 주면서 컴파일하는 부분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어떤 오차 함수를 사용할지 정해야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바로 선형 회귀에서 사용한 평균 제곱 오차와 </a:t>
            </a:r>
            <a:r>
              <a:rPr lang="ko-KR" altLang="en-US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로지스틱 회귀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사용한 교차 엔트로피 오차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폐암 수술 환자의 생존율 예측은 생존과 사망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둘 중 하나를 예측하므로 교차 엔트로피 오차 함수를 적용하기 위해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binary_crossentropy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선택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오차를 줄이기 위한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경사하강법이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Optimizer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Optimizer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란에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adam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적어 주는 것으로 실행할 준비가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metrics()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함수는 모델이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컴파일될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때 모델 수행의 결과를 나타내게끔 설정하는 부분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accuracy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라고 설정한 것은 학습셋에 대한 정확도에 기반해 결과를 출력하라는 의미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     metrics=['accuracy’])</a:t>
            </a:r>
          </a:p>
        </p:txBody>
      </p:sp>
    </p:spTree>
    <p:extLst>
      <p:ext uri="{BB962C8B-B14F-4D97-AF65-F5344CB8AC3E}">
        <p14:creationId xmlns:p14="http://schemas.microsoft.com/office/powerpoint/2010/main" val="2932434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컴파일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951B7B3D-A56F-4D98-87FE-D2208B012BCE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표 </a:t>
            </a:r>
            <a:r>
              <a:rPr lang="en-US" altLang="ko-KR" sz="1600" b="1" dirty="0"/>
              <a:t>10-1 | </a:t>
            </a:r>
            <a:r>
              <a:rPr lang="ko-KR" altLang="en-US" sz="1600" b="1" dirty="0"/>
              <a:t>대표적인 오차 함수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0712A4B-4B3C-41FF-8472-D15DF2B8F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1873611"/>
            <a:ext cx="745807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44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실행하기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>
            <a:normAutofit lnSpcReduction="10000"/>
          </a:bodyPr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실행하기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모델을 정의하고 컴파일하고 나면 이제 실행시킬 차례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컴파일 단계에서 정해진 환경을 주어진 데이터를 불러 실행시킬 때 사용되는 함수는 다음과 같이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model.fit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부분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 프로세스가 모든 샘플에 대해 한 번 실행되는 것을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 epoch(‘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에포크’라고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읽음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코드에서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epochs=5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지정한 것은 각 샘플이 처음부터 끝까지 다섯 번 재사용될 때까지 실행을 반복하라는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batch_size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샘플을 한 번에 몇 개씩 처리할지 정하는 부분으로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batch_size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=16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전체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470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샘플을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개씩 끊어서 집어넣으라는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batch_size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너무 크면 학습 속도가 느려지고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너무 작으면 각 실행 값의 편차가 생겨서 전체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결괏값이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불안정해질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자신의 컴퓨터 메모리가 감당할 만큼의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batch_size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찾아 설정해 주는 것이 좋음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ED23A7-0DCF-454F-A429-7D08956B9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66" y="2686507"/>
            <a:ext cx="70961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78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11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실행하기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7427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실행하기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실행하기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부분을 설명하기에 앞서 용어를 다시 한 번 정리해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주어진 폐암 수술 환자의 수술 후 생존 여부 데이터는 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470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명의 환자에게서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정보를 정리한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각 정보를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속성’이라고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생존 여부를 클래스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가로 한 줄에 해당하는 각 환자의 정보를 각각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샘플’이라고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주어진 데이터에는 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470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샘플이 각각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개씩의 속성을 가지고 있는 것이라고 앞서 설명한 바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2026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실행하기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B11819D-C274-4ACB-A0FD-EC581F7D0205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10-2 | </a:t>
            </a:r>
            <a:r>
              <a:rPr lang="ko-KR" altLang="en-US" sz="1600" b="1" dirty="0"/>
              <a:t>폐암 환자 생존율 예측 데이터의 샘플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속성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클래스 구분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BAD8FFC-2D3C-400C-B47C-6E36221F9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31" y="1931218"/>
            <a:ext cx="603885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19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실행하기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실행하기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용어는 출처마다 조금씩 다름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샘플을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instance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example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이라고도 하며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속성 대신 피처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(feature)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또는 특성이라고도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책에서는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속성’과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샘플’로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통일해서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10154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3366</TotalTime>
  <Words>730</Words>
  <Application>Microsoft Office PowerPoint</Application>
  <PresentationFormat>화면 슬라이드 쇼(4:3)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  딥러닝 모델 설계하기</vt:lpstr>
      <vt:lpstr>PowerPoint 프레젠테이션</vt:lpstr>
      <vt:lpstr>1 모델의 정의</vt:lpstr>
      <vt:lpstr>1 모델의 정의</vt:lpstr>
      <vt:lpstr>2 입력층, 은닉층, 출력층</vt:lpstr>
      <vt:lpstr>1 모델의 정의</vt:lpstr>
      <vt:lpstr>3 모델 컴파일</vt:lpstr>
      <vt:lpstr>4 모델 실행하기</vt:lpstr>
      <vt:lpstr>PowerPoint 프레젠테이션</vt:lpstr>
      <vt:lpstr>4 모델 실행하기</vt:lpstr>
      <vt:lpstr>4 모델 실행하기</vt:lpstr>
      <vt:lpstr>4 모델 실행하기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427</cp:revision>
  <cp:lastPrinted>2016-08-10T06:58:55Z</cp:lastPrinted>
  <dcterms:created xsi:type="dcterms:W3CDTF">2013-04-05T19:58:06Z</dcterms:created>
  <dcterms:modified xsi:type="dcterms:W3CDTF">2025-05-30T07:41:02Z</dcterms:modified>
</cp:coreProperties>
</file>