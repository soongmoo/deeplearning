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6" r:id="rId2"/>
  </p:sldMasterIdLst>
  <p:notesMasterIdLst>
    <p:notesMasterId r:id="rId22"/>
  </p:notesMasterIdLst>
  <p:handoutMasterIdLst>
    <p:handoutMasterId r:id="rId23"/>
  </p:handoutMasterIdLst>
  <p:sldIdLst>
    <p:sldId id="267" r:id="rId3"/>
    <p:sldId id="270" r:id="rId4"/>
    <p:sldId id="272" r:id="rId5"/>
    <p:sldId id="279" r:id="rId6"/>
    <p:sldId id="280" r:id="rId7"/>
    <p:sldId id="281" r:id="rId8"/>
    <p:sldId id="282" r:id="rId9"/>
    <p:sldId id="283" r:id="rId10"/>
    <p:sldId id="284" r:id="rId11"/>
    <p:sldId id="311" r:id="rId12"/>
    <p:sldId id="286" r:id="rId13"/>
    <p:sldId id="287" r:id="rId14"/>
    <p:sldId id="288" r:id="rId15"/>
    <p:sldId id="291" r:id="rId16"/>
    <p:sldId id="296" r:id="rId17"/>
    <p:sldId id="297" r:id="rId18"/>
    <p:sldId id="299" r:id="rId19"/>
    <p:sldId id="313" r:id="rId20"/>
    <p:sldId id="312" r:id="rId21"/>
  </p:sldIdLst>
  <p:sldSz cx="9144000" cy="6858000" type="screen4x3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07">
          <p15:clr>
            <a:srgbClr val="A4A3A4"/>
          </p15:clr>
        </p15:guide>
        <p15:guide id="3" pos="2916">
          <p15:clr>
            <a:srgbClr val="A4A3A4"/>
          </p15:clr>
        </p15:guide>
        <p15:guide id="4" pos="2481">
          <p15:clr>
            <a:srgbClr val="A4A3A4"/>
          </p15:clr>
        </p15:guide>
        <p15:guide id="5" pos="2372">
          <p15:clr>
            <a:srgbClr val="A4A3A4"/>
          </p15:clr>
        </p15:guide>
        <p15:guide id="6" pos="2045">
          <p15:clr>
            <a:srgbClr val="A4A3A4"/>
          </p15:clr>
        </p15:guide>
        <p15:guide id="7" pos="1937">
          <p15:clr>
            <a:srgbClr val="A4A3A4"/>
          </p15:clr>
        </p15:guide>
        <p15:guide id="8" pos="1610">
          <p15:clr>
            <a:srgbClr val="A4A3A4"/>
          </p15:clr>
        </p15:guide>
        <p15:guide id="9" pos="1501">
          <p15:clr>
            <a:srgbClr val="A4A3A4"/>
          </p15:clr>
        </p15:guide>
        <p15:guide id="10" pos="1174">
          <p15:clr>
            <a:srgbClr val="A4A3A4"/>
          </p15:clr>
        </p15:guide>
        <p15:guide id="11" pos="1066">
          <p15:clr>
            <a:srgbClr val="A4A3A4"/>
          </p15:clr>
        </p15:guide>
        <p15:guide id="12" pos="739">
          <p15:clr>
            <a:srgbClr val="A4A3A4"/>
          </p15:clr>
        </p15:guide>
        <p15:guide id="13" pos="630">
          <p15:clr>
            <a:srgbClr val="A4A3A4"/>
          </p15:clr>
        </p15:guide>
        <p15:guide id="14" pos="304">
          <p15:clr>
            <a:srgbClr val="A4A3A4"/>
          </p15:clr>
        </p15:guide>
        <p15:guide id="15" pos="267">
          <p15:clr>
            <a:srgbClr val="A4A3A4"/>
          </p15:clr>
        </p15:guide>
        <p15:guide id="16" pos="3352">
          <p15:clr>
            <a:srgbClr val="A4A3A4"/>
          </p15:clr>
        </p15:guide>
        <p15:guide id="17" pos="3243">
          <p15:clr>
            <a:srgbClr val="A4A3A4"/>
          </p15:clr>
        </p15:guide>
        <p15:guide id="18" pos="3678">
          <p15:clr>
            <a:srgbClr val="A4A3A4"/>
          </p15:clr>
        </p15:guide>
        <p15:guide id="19" pos="3787">
          <p15:clr>
            <a:srgbClr val="A4A3A4"/>
          </p15:clr>
        </p15:guide>
        <p15:guide id="20" pos="4114">
          <p15:clr>
            <a:srgbClr val="A4A3A4"/>
          </p15:clr>
        </p15:guide>
        <p15:guide id="21" pos="4223">
          <p15:clr>
            <a:srgbClr val="A4A3A4"/>
          </p15:clr>
        </p15:guide>
        <p15:guide id="22" pos="4549">
          <p15:clr>
            <a:srgbClr val="A4A3A4"/>
          </p15:clr>
        </p15:guide>
        <p15:guide id="23" pos="4658">
          <p15:clr>
            <a:srgbClr val="A4A3A4"/>
          </p15:clr>
        </p15:guide>
        <p15:guide id="24" pos="4985">
          <p15:clr>
            <a:srgbClr val="A4A3A4"/>
          </p15:clr>
        </p15:guide>
        <p15:guide id="25" pos="5420">
          <p15:clr>
            <a:srgbClr val="A4A3A4"/>
          </p15:clr>
        </p15:guide>
        <p15:guide id="26" pos="5094">
          <p15:clr>
            <a:srgbClr val="A4A3A4"/>
          </p15:clr>
        </p15:guide>
        <p15:guide id="27" pos="5456">
          <p15:clr>
            <a:srgbClr val="A4A3A4"/>
          </p15:clr>
        </p15:guide>
        <p15:guide id="28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B5B8"/>
    <a:srgbClr val="37C9CD"/>
    <a:srgbClr val="59D2D5"/>
    <a:srgbClr val="E06361"/>
    <a:srgbClr val="75B77D"/>
    <a:srgbClr val="A3CFA8"/>
    <a:srgbClr val="8D9DD8"/>
    <a:srgbClr val="FEF7DB"/>
    <a:srgbClr val="FEDBF7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390" autoAdjust="0"/>
  </p:normalViewPr>
  <p:slideViewPr>
    <p:cSldViewPr showGuides="1">
      <p:cViewPr varScale="1">
        <p:scale>
          <a:sx n="60" d="100"/>
          <a:sy n="60" d="100"/>
        </p:scale>
        <p:origin x="1464" y="24"/>
      </p:cViewPr>
      <p:guideLst>
        <p:guide pos="2807"/>
        <p:guide pos="2916"/>
        <p:guide pos="2481"/>
        <p:guide pos="2372"/>
        <p:guide pos="2045"/>
        <p:guide pos="1937"/>
        <p:guide pos="1610"/>
        <p:guide pos="1501"/>
        <p:guide pos="1174"/>
        <p:guide pos="1066"/>
        <p:guide pos="739"/>
        <p:guide pos="630"/>
        <p:guide pos="304"/>
        <p:guide pos="267"/>
        <p:guide pos="3352"/>
        <p:guide pos="3243"/>
        <p:guide pos="3678"/>
        <p:guide pos="3787"/>
        <p:guide pos="4114"/>
        <p:guide pos="4223"/>
        <p:guide pos="4549"/>
        <p:guide pos="4658"/>
        <p:guide pos="4985"/>
        <p:guide pos="5420"/>
        <p:guide pos="5094"/>
        <p:guide pos="545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9" d="100"/>
          <a:sy n="89" d="100"/>
        </p:scale>
        <p:origin x="941" y="62"/>
      </p:cViewPr>
      <p:guideLst/>
    </p:cSldViewPr>
  </p:notesViewPr>
  <p:gridSpacing cx="57607" cy="57607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1696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B0E63-BBCE-42FA-B3A6-5FD535041784}" type="datetimeFigureOut">
              <a:rPr lang="ko-KR" altLang="en-US" smtClean="0"/>
              <a:pPr/>
              <a:t>2025-06-04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1696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421031-9F3C-4BB5-813E-6F6C294051C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9650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56D40-764E-476E-B5E6-4049846BDF68}" type="datetimeFigureOut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9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ADBE4-966B-4F0C-AF81-59D2D1B847A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476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좀더 자세하게 그래프로 확인을 할 수 있는데 상관도그래프</a:t>
            </a:r>
            <a:r>
              <a:rPr lang="en-US" altLang="ko-KR" dirty="0"/>
              <a:t>(</a:t>
            </a:r>
            <a:r>
              <a:rPr lang="en-US" altLang="ko-KR" dirty="0" err="1"/>
              <a:t>pairplot</a:t>
            </a:r>
            <a:r>
              <a:rPr lang="ko-KR" altLang="en-US" dirty="0"/>
              <a:t>함수</a:t>
            </a:r>
            <a:r>
              <a:rPr lang="en-US" altLang="ko-KR" dirty="0"/>
              <a:t>)</a:t>
            </a:r>
            <a:r>
              <a:rPr lang="ko-KR" altLang="en-US" dirty="0"/>
              <a:t>를 이용해 본다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3698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원</a:t>
            </a:r>
            <a:r>
              <a:rPr lang="en-US" altLang="ko-KR" sz="1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‐</a:t>
            </a:r>
            <a:r>
              <a:rPr lang="ko-KR" altLang="en-US" sz="1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핫 인코딩은 글자로 되어 있는 데이터를 컴퓨터가 알 수 있게 숫자로 변경해주는 것을 말한다</a:t>
            </a:r>
            <a:r>
              <a:rPr lang="en-US" altLang="ko-KR" sz="1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Setosa</a:t>
            </a:r>
            <a:r>
              <a:rPr lang="ko-KR" altLang="en-US" sz="1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는 </a:t>
            </a:r>
            <a:r>
              <a:rPr lang="en-US" altLang="ko-KR" sz="1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1 0 0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Versicolor</a:t>
            </a:r>
            <a:r>
              <a:rPr lang="ko-KR" altLang="en-US" sz="1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는 </a:t>
            </a:r>
            <a:r>
              <a:rPr lang="en-US" altLang="ko-KR" sz="1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010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Virginia</a:t>
            </a:r>
            <a:r>
              <a:rPr lang="ko-KR" altLang="en-US" sz="1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는 </a:t>
            </a:r>
            <a:r>
              <a:rPr lang="en-US" altLang="ko-KR" sz="1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001</a:t>
            </a:r>
            <a:r>
              <a:rPr lang="ko-KR" altLang="en-US" sz="1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로 사용하게 만들어 준다</a:t>
            </a:r>
            <a:r>
              <a:rPr lang="en-US" altLang="ko-KR" sz="1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2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1917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소프트맥스는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  <a:r>
              <a:rPr lang="ko-KR" altLang="en-US" dirty="0"/>
              <a:t>에 가까우면 </a:t>
            </a:r>
            <a:r>
              <a:rPr lang="en-US" altLang="ko-KR" dirty="0"/>
              <a:t>0</a:t>
            </a:r>
            <a:r>
              <a:rPr lang="ko-KR" altLang="en-US" dirty="0"/>
              <a:t>으로 </a:t>
            </a:r>
            <a:r>
              <a:rPr lang="en-US" altLang="ko-KR" dirty="0"/>
              <a:t>1</a:t>
            </a:r>
            <a:r>
              <a:rPr lang="ko-KR" altLang="en-US" dirty="0"/>
              <a:t>에 가까우면 </a:t>
            </a:r>
            <a:r>
              <a:rPr lang="en-US" altLang="ko-KR" dirty="0"/>
              <a:t>1</a:t>
            </a:r>
            <a:r>
              <a:rPr lang="ko-KR" altLang="en-US" dirty="0"/>
              <a:t>로 출력되는데 여기서는 세개의 값이므로 세개의 값을 더해 </a:t>
            </a:r>
            <a:r>
              <a:rPr lang="en-US" altLang="ko-KR" dirty="0"/>
              <a:t>1</a:t>
            </a:r>
            <a:r>
              <a:rPr lang="ko-KR" altLang="en-US" dirty="0" err="1"/>
              <a:t>이되지만</a:t>
            </a:r>
            <a:r>
              <a:rPr lang="ko-KR" altLang="en-US" dirty="0"/>
              <a:t> 그중 제일 큰 값인 것을 가져오게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결과값이 </a:t>
            </a:r>
            <a:r>
              <a:rPr lang="en-US" altLang="ko-KR" dirty="0"/>
              <a:t>3</a:t>
            </a:r>
            <a:r>
              <a:rPr lang="ko-KR" altLang="en-US" dirty="0"/>
              <a:t>개이므로 출력층에 </a:t>
            </a:r>
            <a:r>
              <a:rPr lang="en-US" altLang="ko-KR" dirty="0"/>
              <a:t>1</a:t>
            </a:r>
            <a:r>
              <a:rPr lang="ko-KR" altLang="en-US" dirty="0"/>
              <a:t>이 아니라 </a:t>
            </a:r>
            <a:r>
              <a:rPr lang="en-US" altLang="ko-KR" dirty="0"/>
              <a:t>3</a:t>
            </a:r>
            <a:r>
              <a:rPr lang="ko-KR" altLang="en-US" dirty="0"/>
              <a:t>으로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622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0.7</a:t>
            </a:r>
            <a:r>
              <a:rPr lang="ko-KR" altLang="en-US" dirty="0"/>
              <a:t>이 </a:t>
            </a:r>
            <a:r>
              <a:rPr lang="en-US" altLang="ko-KR" dirty="0"/>
              <a:t>versicolor</a:t>
            </a:r>
            <a:r>
              <a:rPr lang="ko-KR" altLang="en-US" dirty="0"/>
              <a:t>로 다른 것 보다 값이 높으므로 </a:t>
            </a:r>
            <a:r>
              <a:rPr lang="en-US" altLang="ko-KR" dirty="0"/>
              <a:t>versicolor</a:t>
            </a:r>
            <a:r>
              <a:rPr lang="ko-KR" altLang="en-US" dirty="0"/>
              <a:t>일 확률이 높다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49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>
          <a:xfrm>
            <a:off x="481903" y="2680109"/>
            <a:ext cx="3859670" cy="80649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671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10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68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926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513" y="440330"/>
            <a:ext cx="8107710" cy="800724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995" y="1470362"/>
            <a:ext cx="8105496" cy="4849414"/>
          </a:xfrm>
        </p:spPr>
        <p:txBody>
          <a:bodyPr>
            <a:normAutofit/>
          </a:bodyPr>
          <a:lstStyle>
            <a:lvl1pPr marL="225425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800"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1pPr>
            <a:lvl2pPr marL="573088" indent="-238125">
              <a:buClr>
                <a:srgbClr val="FFCC66"/>
              </a:buClr>
              <a:buFont typeface="Wingdings" panose="05000000000000000000" pitchFamily="2" charset="2"/>
              <a:buChar char="l"/>
              <a:defRPr sz="16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2pPr>
            <a:lvl3pPr marL="860425" indent="-182563">
              <a:buClr>
                <a:srgbClr val="FFCC66"/>
              </a:buClr>
              <a:buFont typeface="Wingdings" panose="05000000000000000000" pitchFamily="2" charset="2"/>
              <a:buChar char="l"/>
              <a:defRPr sz="14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3pPr>
            <a:lvl4pPr marL="1198563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4pPr>
            <a:lvl5pPr marL="1544638" indent="-228600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629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950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6830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0C587-CD89-8C40-AE01-36B25C2FD636}" type="datetime1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27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4BB27-D512-944F-BD47-D639527B0043}" type="datetime1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97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/>
              <a:pPr>
                <a:defRPr/>
              </a:pPr>
              <a:t>6/4/2025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52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/>
              <a:pPr>
                <a:defRPr/>
              </a:pPr>
              <a:t>6/4/2025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457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/>
              <a:pPr>
                <a:defRPr/>
              </a:pPr>
              <a:t>6/4/2025</a:t>
            </a:fld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655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/>
              <a:pPr>
                <a:defRPr/>
              </a:pPr>
              <a:t>6/4/2025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679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7E81C33E-41CC-7144-9EE9-6BB47BFC27EB}" type="datetime1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7803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EBC88-5945-6548-81AC-D1E801230918}" type="datetime1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3298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FCC0-BCF1-7F40-94F0-C8B3ACD33893}" type="datetime1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481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A98B9-3ABE-A242-9F6B-DA9BAB124A35}" type="datetime1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398714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05156-B5F0-8F44-9B3B-B829BD25E71A}" type="datetime1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7371021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B5F46-2B7F-5B4D-AD94-C45166DC40CF}" type="datetime1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6664132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6E7C3E9F-FCDE-664F-9336-1ABBAA0EA927}" type="datetime1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82916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4813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14527663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DA2EC-FE51-234C-8874-87F532D5C722}" type="datetime1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016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6BB0B-C07A-EF4C-ADBF-B404E3B41965}" type="datetime1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7739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0531E-1DA2-B34A-93A6-C570B815175C}" type="datetime1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0837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4664-5CFD-1A4D-9B41-76CFD729FE90}" type="datetime1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2604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28452" y="1906719"/>
            <a:ext cx="6912841" cy="1522281"/>
          </a:xfrm>
          <a:noFill/>
        </p:spPr>
        <p:txBody>
          <a:bodyPr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defRPr lang="en-US" sz="4800" b="1" kern="120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391262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06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689738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5561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548650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781" y="1470362"/>
            <a:ext cx="8105496" cy="496462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68509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4862BFA-C828-2446-9B72-82AD7C7C4D28}" type="datetime1">
              <a:rPr lang="en-US" smtClean="0">
                <a:solidFill>
                  <a:srgbClr val="464646"/>
                </a:solidFill>
              </a:rPr>
              <a:pPr/>
              <a:t>6/4/2025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795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12757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EF40C587-CD89-8C40-AE01-36B25C2FD636}" type="datetime1">
              <a:rPr lang="en-US" smtClean="0">
                <a:solidFill>
                  <a:srgbClr val="464646"/>
                </a:solidFill>
              </a:rPr>
              <a:pPr/>
              <a:t>6/4/2025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9854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234BB27-D512-944F-BD47-D639527B0043}" type="datetime1">
              <a:rPr lang="en-US" smtClean="0">
                <a:solidFill>
                  <a:srgbClr val="464646"/>
                </a:solidFill>
              </a:rPr>
              <a:pPr/>
              <a:t>6/4/2025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8031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>
                <a:solidFill>
                  <a:srgbClr val="464646"/>
                </a:solidFill>
              </a:rPr>
              <a:pPr>
                <a:defRPr/>
              </a:pPr>
              <a:t>6/4/2025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0112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>
                <a:solidFill>
                  <a:srgbClr val="464646"/>
                </a:solidFill>
              </a:rPr>
              <a:pPr>
                <a:defRPr/>
              </a:pPr>
              <a:t>6/4/2025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0087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>
                <a:solidFill>
                  <a:srgbClr val="464646"/>
                </a:solidFill>
              </a:rPr>
              <a:pPr>
                <a:defRPr/>
              </a:pPr>
              <a:t>6/4/2025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0085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>
                <a:solidFill>
                  <a:srgbClr val="464646"/>
                </a:solidFill>
              </a:rPr>
              <a:pPr>
                <a:defRPr/>
              </a:pPr>
              <a:t>6/4/2025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6435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7E81C33E-41CC-7144-9EE9-6BB47BFC27EB}" type="datetime1">
              <a:rPr lang="en-US" smtClean="0">
                <a:solidFill>
                  <a:srgbClr val="464646"/>
                </a:solidFill>
              </a:rPr>
              <a:pPr/>
              <a:t>6/4/2025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73889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BEBC88-5945-6548-81AC-D1E801230918}" type="datetime1">
              <a:rPr lang="en-US" smtClean="0">
                <a:solidFill>
                  <a:srgbClr val="464646"/>
                </a:solidFill>
              </a:rPr>
              <a:pPr/>
              <a:t>6/4/2025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008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917FCC0-BCF1-7F40-94F0-C8B3ACD33893}" type="datetime1">
              <a:rPr lang="en-US" smtClean="0">
                <a:solidFill>
                  <a:srgbClr val="464646"/>
                </a:solidFill>
              </a:rPr>
              <a:pPr/>
              <a:t>6/4/2025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7353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08CA98B9-3ABE-A242-9F6B-DA9BAB124A35}" type="datetime1">
              <a:rPr lang="en-US" smtClean="0">
                <a:solidFill>
                  <a:srgbClr val="464646"/>
                </a:solidFill>
              </a:rPr>
              <a:pPr/>
              <a:t>6/4/2025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929299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305156-B5F0-8F44-9B3B-B829BD25E71A}" type="datetime1">
              <a:rPr lang="en-US" smtClean="0">
                <a:solidFill>
                  <a:srgbClr val="464646"/>
                </a:solidFill>
              </a:rPr>
              <a:pPr/>
              <a:t>6/4/2025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5637099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DAB5F46-2B7F-5B4D-AD94-C45166DC40CF}" type="datetime1">
              <a:rPr lang="en-US" smtClean="0">
                <a:solidFill>
                  <a:srgbClr val="464646"/>
                </a:solidFill>
              </a:rPr>
              <a:pPr/>
              <a:t>6/4/2025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25296279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6E7C3E9F-FCDE-664F-9336-1ABBAA0EA927}" type="datetime1">
              <a:rPr lang="en-US" smtClean="0">
                <a:solidFill>
                  <a:srgbClr val="464646"/>
                </a:solidFill>
              </a:rPr>
              <a:pPr/>
              <a:t>6/4/2025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354435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163540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380403888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704DA2EC-FE51-234C-8874-87F532D5C722}" type="datetime1">
              <a:rPr lang="en-US" smtClean="0">
                <a:solidFill>
                  <a:srgbClr val="464646"/>
                </a:solidFill>
              </a:rPr>
              <a:pPr/>
              <a:t>6/4/2025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12385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036BB0B-C07A-EF4C-ADBF-B404E3B41965}" type="datetime1">
              <a:rPr lang="en-US" smtClean="0">
                <a:solidFill>
                  <a:srgbClr val="464646"/>
                </a:solidFill>
              </a:rPr>
              <a:pPr/>
              <a:t>6/4/2025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19522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8600531E-1DA2-B34A-93A6-C570B815175C}" type="datetime1">
              <a:rPr lang="en-US" smtClean="0">
                <a:solidFill>
                  <a:srgbClr val="464646"/>
                </a:solidFill>
              </a:rPr>
              <a:pPr/>
              <a:t>6/4/2025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53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932E4664-5CFD-1A4D-9B41-76CFD729FE90}" type="datetime1">
              <a:rPr lang="en-US" smtClean="0">
                <a:solidFill>
                  <a:srgbClr val="464646"/>
                </a:solidFill>
              </a:rPr>
              <a:pPr/>
              <a:t>6/4/2025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073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50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7.xml"/><Relationship Id="rId2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4"/>
                </a:solidFill>
              </a:defRPr>
            </a:lvl1pPr>
          </a:lstStyle>
          <a:p>
            <a:fld id="{64F5F5AC-42C6-7943-932B-3849F0E3EB5C}" type="datetime1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4"/>
                </a:solidFill>
              </a:defRPr>
            </a:lvl1pPr>
          </a:lstStyle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42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107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>
              <a:lumMod val="50000"/>
            </a:schemeClr>
          </a:solidFill>
          <a:latin typeface="+mj-ea"/>
          <a:ea typeface="+mj-ea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+mn-ea"/>
          <a:ea typeface="+mn-ea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+mn-ea"/>
          <a:ea typeface="+mn-ea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+mn-ea"/>
          <a:ea typeface="+mn-ea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9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224864"/>
            <a:ext cx="9144000" cy="189542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pPr algn="ctr"/>
            <a:r>
              <a:rPr lang="ko-KR" altLang="en-US" sz="5400" dirty="0">
                <a:solidFill>
                  <a:srgbClr val="E06361"/>
                </a:solidFill>
              </a:rPr>
              <a:t>넷째마당</a:t>
            </a:r>
            <a:endParaRPr lang="en-US" altLang="ko-KR" sz="5400" dirty="0">
              <a:solidFill>
                <a:srgbClr val="E06361"/>
              </a:solidFill>
            </a:endParaRPr>
          </a:p>
          <a:p>
            <a:pPr algn="ctr"/>
            <a:r>
              <a:rPr lang="ko-KR" altLang="en-US" sz="5400" dirty="0">
                <a:solidFill>
                  <a:schemeClr val="tx2"/>
                </a:solidFill>
              </a:rPr>
              <a:t>딥러닝 기본기 다지기 </a:t>
            </a:r>
            <a:endParaRPr lang="en-US" sz="5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036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424296" y="375829"/>
            <a:ext cx="8410623" cy="80649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 lvl="0" algn="ctr" defTabSz="457200">
              <a:spcBef>
                <a:spcPct val="0"/>
              </a:spcBef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12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장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다중 분류 문제 해결하기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+mj-cs"/>
            </a:endParaRPr>
          </a:p>
        </p:txBody>
      </p:sp>
      <p:cxnSp>
        <p:nvCxnSpPr>
          <p:cNvPr id="5" name="직선 연결선 4"/>
          <p:cNvCxnSpPr>
            <a:cxnSpLocks/>
          </p:cNvCxnSpPr>
          <p:nvPr/>
        </p:nvCxnSpPr>
        <p:spPr>
          <a:xfrm flipV="1">
            <a:off x="1740023" y="1181435"/>
            <a:ext cx="5788241" cy="12051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2159893" y="1643183"/>
            <a:ext cx="6041348" cy="30861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1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다중 분류 문제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2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상관도 그래프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3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원</a:t>
            </a:r>
            <a:r>
              <a:rPr lang="en-US" altLang="ko-KR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‐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핫 인코딩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4 </a:t>
            </a:r>
            <a:r>
              <a:rPr lang="ko-KR" altLang="en-US" sz="20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소프트맥스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5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아이리스 품종 예측의 실행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7540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3</a:t>
            </a:fld>
            <a:endParaRPr 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1 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다중 분류 문제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7578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다중 분류 문제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다중 분류 문제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아이리스는 그 꽃봉오리가 마치 먹물을 머금은 붓과 같다 하여 우리나라에서는 ‘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붓꽃’이라고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부르는 아름다운 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아이리스는 꽃잎의 모양과 길이에 따라 여러 가지 품종으로 나뉨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사진을 보면 품종마다 비슷해 보이는데요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과연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사용해서 이들을 구별해 낼 수 있을까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?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30D052CD-2071-4A4C-B02D-9F77199C14D8}"/>
              </a:ext>
            </a:extLst>
          </p:cNvPr>
          <p:cNvSpPr txBox="1">
            <a:spLocks/>
          </p:cNvSpPr>
          <p:nvPr/>
        </p:nvSpPr>
        <p:spPr>
          <a:xfrm>
            <a:off x="597117" y="3489494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12-1 | </a:t>
            </a:r>
            <a:r>
              <a:rPr lang="ko-KR" altLang="en-US" sz="1600" b="1" dirty="0"/>
              <a:t>아이리스의 품종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224ACD7-D11A-4245-B268-BED484F35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17" y="3832249"/>
            <a:ext cx="6229350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627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다중 분류 문제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다중 분류 문제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아이리스 품종 예측 데이터는 예제 파일의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data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폴더에서 찾을 수 있음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(data/iris3.csv)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데이터의 구조는 다음과 같음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86054310-6E2C-4150-A9BB-CD93F1BDA4CE}"/>
              </a:ext>
            </a:extLst>
          </p:cNvPr>
          <p:cNvSpPr txBox="1">
            <a:spLocks/>
          </p:cNvSpPr>
          <p:nvPr/>
        </p:nvSpPr>
        <p:spPr>
          <a:xfrm>
            <a:off x="597117" y="2564895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12-2 | </a:t>
            </a:r>
            <a:r>
              <a:rPr lang="ko-KR" altLang="en-US" sz="1600" b="1" dirty="0"/>
              <a:t>아이리스 데이터의 샘플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속성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클래스 구분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F91DA65-0868-4C46-B20A-E13E6AF466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17" y="2965257"/>
            <a:ext cx="6381750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308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다중 분류 문제</a:t>
            </a:r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12B705C-3720-4022-8863-A15470CD9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" y="1620164"/>
            <a:ext cx="6381750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822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다중 분류 문제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다중 분류 문제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속성을 보니 우리가 앞서 다루었던 것과 중요한 차이가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바로 클래스가 두 개가 아니라 세 개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즉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참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(1)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과 거짓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(0)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으로 해결하는 것이 아니라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여러 개 중에 어떤 것이 답인지 예측하는 문제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이렇게 여러 개의 답 중 하나를 고르는 분류 문제를 </a:t>
            </a: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다중 분류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(multi classification)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라고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다중 분류 문제는 둘 중에 하나를 고르는 이항 분류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(binary classification)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와는 접근 방식이 조금 다름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지금부터 아이리스 품종을 예측하는 실습을 통해 다중 분류 문제를 해결해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0119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8</a:t>
            </a:fld>
            <a:endParaRPr 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2 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상관도 그래프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79879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상관도 그래프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상관도 그래프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먼저 데이터의 일부를 불러와 내용을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534C597-F49A-9C4E-9E50-1D36004C0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59" y="2290603"/>
            <a:ext cx="7078063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186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상관도 그래프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AF61EA8-2418-4FA2-9F73-6353F48B8F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24" y="1516287"/>
            <a:ext cx="4607922" cy="19431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3E0AE05-D6F7-A182-E304-D4FF806A69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325" y="3774642"/>
            <a:ext cx="6229350" cy="19431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0EA29C9-6D21-46D1-E73F-D028EF6933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6105" y="1511138"/>
            <a:ext cx="3341206" cy="2031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029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상관도 그래프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상관도 그래프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이번에는 시본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(seaborn)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라이브러리에 있는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pairplot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써서 전체 상관도를 볼 수 있는 그래프를 출력해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6E3A22F-7D21-4C52-8331-674958F660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456151"/>
            <a:ext cx="7096125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781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상관도 그래프</a:t>
            </a:r>
            <a:endParaRPr lang="ko-KR" alt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D232E15-606E-4AB5-962D-F4C6F5B5B316}"/>
              </a:ext>
            </a:extLst>
          </p:cNvPr>
          <p:cNvSpPr txBox="1">
            <a:spLocks/>
          </p:cNvSpPr>
          <p:nvPr/>
        </p:nvSpPr>
        <p:spPr>
          <a:xfrm>
            <a:off x="597117" y="1527969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12-3 | </a:t>
            </a:r>
            <a:r>
              <a:rPr lang="en-US" altLang="ko-KR" sz="1600" b="1" dirty="0" err="1"/>
              <a:t>pairplot</a:t>
            </a:r>
            <a:r>
              <a:rPr lang="en-US" altLang="ko-KR" sz="1600" b="1" dirty="0"/>
              <a:t> </a:t>
            </a:r>
            <a:r>
              <a:rPr lang="ko-KR" altLang="en-US" sz="1600" b="1" dirty="0"/>
              <a:t>함수로 데이터 한번에 보기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B1500C7-86D2-45DC-8966-5940F963CD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24" y="1945530"/>
            <a:ext cx="6981825" cy="44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379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상관도 그래프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999FA2F-77C3-497D-9325-B183BDD8F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24" y="1666875"/>
            <a:ext cx="6981825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699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원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‐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핫 인코딩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원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‐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핫 인코딩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케라스를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이용해 아이리스의 품종을 예측해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Iris-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setosa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Iris-virginica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등 데이터 안에 문자열이 포함되어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먼저 조금 전 불러온 데이터 프레임을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X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y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나누겠음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DAA7370-B78B-4E8F-9107-51DB1FE6AD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894499"/>
            <a:ext cx="7067550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020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원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‐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핫 인코딩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원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‐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핫 인코딩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여러 개의 값으로 된 문자열을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로만 이루어진 형태로 만들어 주는 과정을 </a:t>
            </a: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원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-</a:t>
            </a: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핫 인코딩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(one-hot encoding)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이라고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판다스가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제공하는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get_dummies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사용하면 간단하게 해낼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DF12BAE-BD99-4DB0-8A97-B3FC1A9398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" y="2737716"/>
            <a:ext cx="7105650" cy="19812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8DDCB28-5B0B-9445-464D-E0FDBA341A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187" y="4433503"/>
            <a:ext cx="5715000" cy="22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063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원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‐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핫 인코딩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원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‐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핫 인코딩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5AE1DD5-D876-4105-9EDB-DB6A8B2170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62" y="1854705"/>
            <a:ext cx="7153275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006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소프트맥스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401AAA6-F1E2-450E-8BE8-2F406CDAE0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412" y="1489171"/>
            <a:ext cx="7115175" cy="3552825"/>
          </a:xfrm>
          <a:prstGeom prst="rect">
            <a:avLst/>
          </a:prstGeom>
        </p:spPr>
      </p:pic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F576B3C6-14F2-5F80-B271-BE2786776CE6}"/>
              </a:ext>
            </a:extLst>
          </p:cNvPr>
          <p:cNvSpPr txBox="1">
            <a:spLocks/>
          </p:cNvSpPr>
          <p:nvPr/>
        </p:nvSpPr>
        <p:spPr>
          <a:xfrm>
            <a:off x="654724" y="5041997"/>
            <a:ext cx="8105496" cy="1497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8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1pPr>
            <a:lvl2pPr marL="573088" indent="-238125" algn="l" defTabSz="4572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6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2pPr>
            <a:lvl3pPr marL="860425" indent="-182563" algn="l" defTabSz="4572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4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3pPr>
            <a:lvl4pPr marL="1198563" indent="-225425" algn="l" defTabSz="457200" rtl="0" eaLnBrk="1" latinLnBrk="0" hangingPunct="1">
              <a:lnSpc>
                <a:spcPct val="110000"/>
              </a:lnSpc>
              <a:spcBef>
                <a:spcPts val="1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2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4pPr>
            <a:lvl5pPr marL="1544638" indent="-228600" algn="l" defTabSz="457200" rtl="0" eaLnBrk="1" latinLnBrk="0" hangingPunct="1">
              <a:lnSpc>
                <a:spcPct val="110000"/>
              </a:lnSpc>
              <a:spcBef>
                <a:spcPts val="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2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세 가지가 달라졌음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첫째 출력층의 노드 수가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3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으로 바뀜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활성화 함수가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softmax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바뀜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마지막으로 컴파일 부분에서 손실 함수 부분이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categorical_crossentropy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바뀜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9170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5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아이리스 품종 예측의 실행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아이리스 품종 예측의 실행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021A554-EBB8-41CC-9D6D-8AA02CDD7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50" y="1873611"/>
            <a:ext cx="7200900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5425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소프트맥스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7889D608-3454-4307-BD50-56C9DD55B9DC}"/>
              </a:ext>
            </a:extLst>
          </p:cNvPr>
          <p:cNvSpPr txBox="1">
            <a:spLocks/>
          </p:cNvSpPr>
          <p:nvPr/>
        </p:nvSpPr>
        <p:spPr>
          <a:xfrm>
            <a:off x="597117" y="1527969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12-5 | </a:t>
            </a:r>
            <a:r>
              <a:rPr lang="ko-KR" altLang="en-US" sz="1600" b="1" dirty="0" err="1"/>
              <a:t>소프트맥스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AF9842E-3BE9-4FC6-BD2B-B6BA63374E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17" y="1928331"/>
            <a:ext cx="6486525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50980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C650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0">
          <a:solidFill>
            <a:srgbClr val="FF0000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3366</TotalTime>
  <Words>524</Words>
  <Application>Microsoft Office PowerPoint</Application>
  <PresentationFormat>화면 슬라이드 쇼(4:3)</PresentationFormat>
  <Paragraphs>75</Paragraphs>
  <Slides>19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19</vt:i4>
      </vt:variant>
    </vt:vector>
  </HeadingPairs>
  <TitlesOfParts>
    <vt:vector size="29" baseType="lpstr">
      <vt:lpstr>KoPub돋움체_Pro Bold</vt:lpstr>
      <vt:lpstr>KoPub돋움체_Pro Light</vt:lpstr>
      <vt:lpstr>KoPub돋움체_Pro Medium</vt:lpstr>
      <vt:lpstr>맑은 고딕</vt:lpstr>
      <vt:lpstr>Arial</vt:lpstr>
      <vt:lpstr>Calibri</vt:lpstr>
      <vt:lpstr>Verdana</vt:lpstr>
      <vt:lpstr>Wingdings</vt:lpstr>
      <vt:lpstr>1_Office Theme</vt:lpstr>
      <vt:lpstr>2_Office Theme</vt:lpstr>
      <vt:lpstr>PowerPoint 프레젠테이션</vt:lpstr>
      <vt:lpstr>PowerPoint 프레젠테이션</vt:lpstr>
      <vt:lpstr>PowerPoint 프레젠테이션</vt:lpstr>
      <vt:lpstr>1 다중 분류 문제</vt:lpstr>
      <vt:lpstr>1 다중 분류 문제</vt:lpstr>
      <vt:lpstr>1 다중 분류 문제</vt:lpstr>
      <vt:lpstr>1 다중 분류 문제</vt:lpstr>
      <vt:lpstr>PowerPoint 프레젠테이션</vt:lpstr>
      <vt:lpstr>2 상관도 그래프</vt:lpstr>
      <vt:lpstr>2 상관도 그래프</vt:lpstr>
      <vt:lpstr>2 상관도 그래프</vt:lpstr>
      <vt:lpstr>2 상관도 그래프</vt:lpstr>
      <vt:lpstr>2 상관도 그래프</vt:lpstr>
      <vt:lpstr>3 원‐핫 인코딩</vt:lpstr>
      <vt:lpstr>3 원‐핫 인코딩</vt:lpstr>
      <vt:lpstr>3 원‐핫 인코딩</vt:lpstr>
      <vt:lpstr>4 소프트맥스</vt:lpstr>
      <vt:lpstr>5 아이리스 품종 예측의 실행</vt:lpstr>
      <vt:lpstr>4 소프트맥스</vt:lpstr>
    </vt:vector>
  </TitlesOfParts>
  <Company>The National Academies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Megan Ellinger</dc:creator>
  <cp:lastModifiedBy>user</cp:lastModifiedBy>
  <cp:revision>460</cp:revision>
  <cp:lastPrinted>2016-08-10T06:58:55Z</cp:lastPrinted>
  <dcterms:created xsi:type="dcterms:W3CDTF">2013-04-05T19:58:06Z</dcterms:created>
  <dcterms:modified xsi:type="dcterms:W3CDTF">2025-06-04T06:17:47Z</dcterms:modified>
</cp:coreProperties>
</file>