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41"/>
  </p:notesMasterIdLst>
  <p:handoutMasterIdLst>
    <p:handoutMasterId r:id="rId42"/>
  </p:handoutMasterIdLst>
  <p:sldIdLst>
    <p:sldId id="267" r:id="rId3"/>
    <p:sldId id="270" r:id="rId4"/>
    <p:sldId id="272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8" r:id="rId24"/>
    <p:sldId id="300" r:id="rId25"/>
    <p:sldId id="301" r:id="rId26"/>
    <p:sldId id="303" r:id="rId27"/>
    <p:sldId id="302" r:id="rId28"/>
    <p:sldId id="305" r:id="rId29"/>
    <p:sldId id="307" r:id="rId30"/>
    <p:sldId id="308" r:id="rId31"/>
    <p:sldId id="311" r:id="rId32"/>
    <p:sldId id="312" r:id="rId33"/>
    <p:sldId id="325" r:id="rId34"/>
    <p:sldId id="326" r:id="rId35"/>
    <p:sldId id="327" r:id="rId36"/>
    <p:sldId id="324" r:id="rId37"/>
    <p:sldId id="318" r:id="rId38"/>
    <p:sldId id="328" r:id="rId39"/>
    <p:sldId id="329" r:id="rId4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728" y="45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5/30/2025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5/30/2025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5/30/2025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5/30/2025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5/30/2025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넷째마당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기본기 다지기 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11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데이터 다루기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740023" y="1181435"/>
            <a:ext cx="5788241" cy="120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3086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딥러닝과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데이터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중요한 데이터 추출하기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딥러닝과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데이터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데이터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데이터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세월이 흐르면서 쌓인 방대한 데이터를 빅데이터라고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빅데이터’는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분명히 머신 러닝과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딥러닝으로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하여금 사람에 버금가는 판단과 지능을 가질 수 있게끔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데이터양이 많다고 해서 무조건 좋은 결과를 얻을 수 있는 것은 아님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데이터양도 중요하지만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안에 ‘필요한’ 데이터가 얼마나 있는가도 중요하기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준비된 데이터가 우리가 사용하려는 머신 러닝과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얼마나 효율적으로 사용되게끔 가공되었는지 역시 중요함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8627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데이터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데이터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머신 러닝 프로젝트의 성공과 실패는 얼마나 좋은 데이터를 가지고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시작하느냐에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영향을 많이 받음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좋은 데이터란 한쪽으로 치우치지 않고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불필요한 정보가 대량으로 포함되어 있지 않으며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왜곡되지 않은 데이터를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데이터를 만들기 위해 머신 러닝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 개발자들은 데이터를 직접 들여다보고 분석할 수 있어야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내가 이루고 싶은 목적에 맞추어 가능한 한 많은 정보를 모았다면 이를 머신 러닝과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사용 할 수 있게 잘 정제된 데이터 형식으로 바꾸어야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작업은 모든 머신 러닝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 프로젝트의 첫 단추이자 가장 중요한 작업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71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데이터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데이터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지금부터 데이터 분석에 가장 많이 사용하는 파이썬 라이브러리인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(pandas)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맷플롯립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(matplotlib)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등을 사용해 우리가 다룰 데이터가 어떤 내용을 담고 있는지 확인하면서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핵심 기술들을 하나씩 구현해 보자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345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8416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9EA9BE7-1343-4CEA-A8F8-2EA87146596C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11-1 | </a:t>
            </a:r>
            <a:r>
              <a:rPr lang="ko-KR" altLang="en-US" sz="1600" b="1" dirty="0"/>
              <a:t>피마 인디언 옛 모습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FFC64F-D86F-4598-A415-98194733C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76" y="1873611"/>
            <a:ext cx="49720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3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비만은 유전일까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아니면 식습관 조절에 실패한 자신의 탓일까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비만이 유전 및 환경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모두의 탓이라는 것을 증명하는 좋은 사례가 바로 미국 남서부에 살고 있는 피마 인디언의 사례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피마 인디언은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1950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년대까지만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해도 비만인 사람이 단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명도 없는 민족이었음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지금은 전체 부족의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60%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당뇨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80%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비만으로 고통받고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이는 생존하기 위해 영양분을 체내에 저장하는 뛰어난 능력을 물려받은 인디언들이 미국의 기름진 패스트푸드 문화를 만나면서 벌어진 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피마 인디언을 대상으로 당뇨병 여부를 측정한 데이터는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data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폴더에서 찾을 수 있음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(data/pima-indians-diabetes3.csv)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863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준비된 데이터의 내용을 들여다보자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주피터 노트북을 통해 열어 보면 모두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768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명의 인디언으로부터 여덟 개의 정보와 한 개의 클래스를 추출한 데이터임을 알 수 있음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354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9EA9BE7-1343-4CEA-A8F8-2EA87146596C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11-2 | </a:t>
            </a:r>
            <a:r>
              <a:rPr lang="ko-KR" altLang="en-US" sz="1600" b="1" dirty="0"/>
              <a:t>피마 인디언 데이터의 샘플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속성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클래스 구분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3736E2-2C64-4507-812C-7A3F95A1F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982643"/>
            <a:ext cx="70770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05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2FDA89-B30B-4BDA-81C7-59A851A0A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1643183"/>
            <a:ext cx="429577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2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 데이터 분석하기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데이터의 각 정보가 의미하는 의학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생리학 배경지식을 모두 알 필요는 없지만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구동하려면 반드시 속성과 클래스를 먼저 구분해야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모델의 정확도를 향상시키기 위해서는 데이터를 추가하거나 재가공해야 할 수도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데이터의 내용과 구조를 파악하는 것이 중요함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5609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285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데이터를 잘 파악하는 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다루는 기술의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단계라고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데이터의 크기가 커지고 정보량이 많아지면 데이터를 불러오고 내용을 파악할 수 있는 효과적인 방법이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가장 유용한 방법이 데이터를 시각화해서 눈으로 직접 확인해 보는 것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지금부터 데이터를 불러와 그래프로 표현하는 방법을 알아보자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데이터를 다룰 때는 데이터를 다루기 위해 만들어진 라이브러리를 사용하는 것이 좋음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지금까지는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넘파이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라이브러리를 불러와 사용했는데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넘파이의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기능을 포함하면서도 다양한 포맷의 데이터를 다루게 해 주는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라이브러리를 사용해서 데이터를 조사해 보자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7493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실습에는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(pandas)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시본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(seaborn)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라이브러리가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코랩은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기본으로 제공하지만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주피터 노트북을 이용해 실습 중이라면 다음 명령으로 두 라이브러리를 설치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en-US" altLang="ko-KR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!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pip install pandas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en-US" altLang="ko-KR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!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pip install seaborn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978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783BB4-3190-8749-9E3B-ABF8F197A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15" y="1873611"/>
            <a:ext cx="7106642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44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220710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read_csv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csv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파일을 불러와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이름의 데이터 프레임으로 저장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csv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comma separated values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약어로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쉼표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(,)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구분된 데이터들의 모음이란 뜻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csv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파일에는 데이터를 설명하는 한 줄이 파일 맨 처음에 나옴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헤더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(header)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함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9965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047889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불러온 데이터의 내용을 간단히 확인하고자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head()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데이터의 첫 다섯 줄을 불러오자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178948-6EDA-4112-A1E8-D2E3889E0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05" y="2449681"/>
            <a:ext cx="712470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61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파이썬에서는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숫자를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부터 세기 때문에 맨 첫 번째 행이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아닌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EB97B7-63C5-4101-B01E-D2A7A67AB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30" y="2564895"/>
            <a:ext cx="71056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2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정상과 당뇨 환자가 각각 몇 명씩인지 조사해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불러온 데이터 프레임의 특정 칼럼을 불러오려면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df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[“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칼럼명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]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입력하면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value_counts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이용하면 각 컬럼의 값이 몇 개씩 있는지 알려 줌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C540F8-3054-491A-B35E-7C673B348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17" y="2852930"/>
            <a:ext cx="7077075" cy="7905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46FA8A1-7DCE-C514-A553-E5761E20F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3754066"/>
            <a:ext cx="7067550" cy="1485900"/>
          </a:xfrm>
          <a:prstGeom prst="rect">
            <a:avLst/>
          </a:prstGeom>
        </p:spPr>
      </p:pic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51462D1-9CC0-309E-BE22-7CCBAA605CB3}"/>
              </a:ext>
            </a:extLst>
          </p:cNvPr>
          <p:cNvSpPr txBox="1">
            <a:spLocks/>
          </p:cNvSpPr>
          <p:nvPr/>
        </p:nvSpPr>
        <p:spPr>
          <a:xfrm>
            <a:off x="404038" y="5398065"/>
            <a:ext cx="8335923" cy="1125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정상인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명과 당뇨병 환자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268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명을 포함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768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샘플이 준비되어 있는 것을 알 수 있음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46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정보별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특징을 좀 더 자세히 알고 싶으면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describe()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988591-5694-4697-B0E9-308258C1A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05" y="2161646"/>
            <a:ext cx="7124700" cy="800100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42369D21-C8BE-3973-36AF-9F91D47F12C1}"/>
              </a:ext>
            </a:extLst>
          </p:cNvPr>
          <p:cNvSpPr txBox="1">
            <a:spLocks/>
          </p:cNvSpPr>
          <p:nvPr/>
        </p:nvSpPr>
        <p:spPr>
          <a:xfrm>
            <a:off x="490123" y="2968144"/>
            <a:ext cx="8335923" cy="748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정보별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샘플 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(count)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평균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(mean)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표준편차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(std)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최솟값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(min)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백분위 수로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25%, 50%, 75%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해당하는 값 그리고 최댓값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(max)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정리되어 보임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ED2E09-BAD7-507E-FBDD-B9FB14823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3601821"/>
            <a:ext cx="74771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58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각 항목이 어느 정도의 상관관계를 가지고 있는지</a:t>
            </a:r>
            <a:r>
              <a:rPr lang="en-US" altLang="ko-KR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관련성이 얼마나 있는지</a:t>
            </a:r>
            <a:r>
              <a:rPr lang="en-US" altLang="ko-KR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A9ACD1-7C0B-4158-9AAC-270F3AB08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2139469"/>
            <a:ext cx="7153275" cy="8286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B1B489C-1753-F795-A236-A9D1DFE1B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9" y="2969467"/>
            <a:ext cx="75819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41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출력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4063E9-D67D-4AB6-BED5-334A02AC5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9" y="2267094"/>
            <a:ext cx="75819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07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63F835-0DE8-4816-8E3F-8F1A94E1D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71" y="3168963"/>
            <a:ext cx="7058025" cy="13430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089CF6-6A92-05A6-9A7B-0F5A5BAD5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9" y="1988825"/>
            <a:ext cx="71056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84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335923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맷플롯립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(matplotlib)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파이썬에서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그래프를 그릴 때 가장 많이 사용되는 라이브러리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기반으로 조금 더 정교한 그래프를 그리게 해 주는 시본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(seaborn)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라이브러리까지 사용해서 각 정보 간 상관관계를 가시화해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그래프의 색상과 크기를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시본 라이브러리 중 각 항목 간 상관관계를 나타내는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heatmap()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통해 그래프를 표시해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heatmap()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함수는 두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항목씩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짝을 지은 후 각각 어떤 패턴으로 변화하는지 관찰하는 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두 항목이 전혀 다른 패턴으로 변화하면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서로 비슷한 패턴으로 변할수록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가까운 값을 출력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1772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판다스를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활용한 데이터 조사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DFD5F0C-BE2C-48F7-9861-F0B38F71E570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11-3 | </a:t>
            </a:r>
            <a:r>
              <a:rPr lang="ko-KR" altLang="en-US" sz="1600" b="1" dirty="0"/>
              <a:t>정보 간 상관관계 그래프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70AD2E-FCFB-4E81-BC60-754964FAD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31218"/>
            <a:ext cx="4481393" cy="4437198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29BF4369-1135-1F6E-412E-BC19BCDCF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250" y="1643183"/>
            <a:ext cx="3686848" cy="4964629"/>
          </a:xfrm>
        </p:spPr>
        <p:txBody>
          <a:bodyPr/>
          <a:lstStyle/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Diabetes(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당뇨병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항목과 관련성이 있으면 밝은 색에 가깝다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diabetes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항목을 보면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pregnant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age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까지 상관도가 숫자로 표시되어 있고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숫자가 높을수록 밝은 색상으로 채워져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숫자가 높다는 것은 관련성이 높다는 것이다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상대적으로 밝은 색상인 공복혈당 지수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(pregnant)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체지방지수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bmi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관련이 있다는 것을 그래프로 알 수 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두 항목이 중요하다는 것을 예측할 수 있다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9633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중요한 데이터 추출하기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5322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중요한 데이터 추출하기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7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중요한 데이터 추출하기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plasma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항목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공복 혈당 농도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BMI(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체질량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지수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우리가 예측하고자 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diabetes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항목과 상관관계가 높다는 것을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두 항목만 따로 떼어 내어 당뇨의 발병 여부와 어떤 관계가 있는지 알아보자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plasma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기준으로 각각 정상과 당뇨 여부가 어떻게 분포되는지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히스토그램을 그려 주는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맷플롯립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hist()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가져오게 될 칼럼을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hist()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 안에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축으로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df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안의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plasma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칼럼 중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diabetes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 것과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 것을 구분해 불러오게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bins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축을 몇 개의 막대로 쪼개어 보여 줄 것인지 정하는 변수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barstacked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옵션은 여러 데이터가 쌓여 있는 형태의 막대바를 생성하는 옵션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불러온 데이터의 이름을 각각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normal(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정상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diabetes(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당뇨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2001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중요한 데이터 추출하기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5DAE1-D008-4DA1-ABD5-A5E618158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61" y="2968144"/>
            <a:ext cx="5457825" cy="35337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D6BE006-415C-C463-C15F-4359B03A9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9" y="1585576"/>
            <a:ext cx="7067550" cy="130492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56DDDD38-4BC0-7E50-8F62-537CFF1BAC33}"/>
              </a:ext>
            </a:extLst>
          </p:cNvPr>
          <p:cNvSpPr txBox="1">
            <a:spLocks/>
          </p:cNvSpPr>
          <p:nvPr/>
        </p:nvSpPr>
        <p:spPr>
          <a:xfrm>
            <a:off x="5594087" y="3138078"/>
            <a:ext cx="3084484" cy="144306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Plasma(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공복 혈당 농도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와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 diabetes(</a:t>
            </a:r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당뇨병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의 수치가 거의 같게 나타난 것을 확인 할 수가 있다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. </a:t>
            </a:r>
          </a:p>
          <a:p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서로 상관관계가 있다는 것을 알 수 있다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.</a:t>
            </a:r>
            <a:endParaRPr lang="ko-KR" altLang="en-US" sz="1400" dirty="0">
              <a:solidFill>
                <a:srgbClr val="FF0000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8918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중요한 데이터 추출하기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633F41-C512-4737-9CB7-03469F10A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9" y="1527969"/>
            <a:ext cx="7134225" cy="1323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3DB196-0C79-78F6-9BBE-24561491C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8" y="3014813"/>
            <a:ext cx="5429250" cy="3476625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1789591E-18A0-E5C0-B647-3CC571BE48E0}"/>
              </a:ext>
            </a:extLst>
          </p:cNvPr>
          <p:cNvSpPr txBox="1">
            <a:spLocks/>
          </p:cNvSpPr>
          <p:nvPr/>
        </p:nvSpPr>
        <p:spPr>
          <a:xfrm>
            <a:off x="5724140" y="3030539"/>
            <a:ext cx="3084484" cy="144306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en-US" altLang="ko-KR" sz="1400" dirty="0" err="1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bmi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Light" pitchFamily="18" charset="-127"/>
              </a:rPr>
              <a:t>채지방지수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와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 diabetes(</a:t>
            </a:r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당뇨병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의 수치가 거의 같게 나타난 것을 확인 할 수가 있다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. </a:t>
            </a:r>
          </a:p>
          <a:p>
            <a:r>
              <a:rPr lang="ko-KR" altLang="en-US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서로 상관관계가 있다는 것을 알 수 있다</a:t>
            </a:r>
            <a:r>
              <a:rPr lang="en-US" altLang="ko-KR" sz="1400" dirty="0">
                <a:solidFill>
                  <a:srgbClr val="FF0000"/>
                </a:solidFill>
                <a:latin typeface="KoPub돋움체_Pro Medium" pitchFamily="18" charset="-127"/>
                <a:ea typeface="KoPub돋움체_Pro Medium" pitchFamily="18" charset="-127"/>
              </a:rPr>
              <a:t>.</a:t>
            </a:r>
            <a:r>
              <a:rPr lang="en-US" altLang="ko-KR" sz="900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BMI</a:t>
            </a:r>
            <a:r>
              <a:rPr lang="ko-KR" altLang="en-US" sz="1400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가 높아질 경우 당뇨의 발병률도 함께 증가하는 추세를 볼 수 있음</a:t>
            </a:r>
            <a:endParaRPr lang="en-US" altLang="ko-KR" sz="1400" dirty="0">
              <a:solidFill>
                <a:srgbClr val="FF0000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endParaRPr lang="ko-KR" altLang="en-US" sz="1400" dirty="0">
              <a:solidFill>
                <a:srgbClr val="FF0000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7652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105497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은닉층의 개수를 왜 두 개로 했나요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?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그리고 노드의 수는 왜 각각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12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개와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8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개로 했나요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? 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입력과 출력의 수는 정해져 있지만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은닉층은 몇 층으로 할지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은닉층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안의 노드는 몇 개로 할지에 대한 정답은 없음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자신의 프로젝트에 따라 설정해야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여러 번 반복하면서 최적 값을 찾아내는 것이 좋으며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임의의 수로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설정했고 설명의 편의성을 위해 두 개의 은닉층을 만들었음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여러분이 직접 노드의 수와 은닉층의 개수를 바꾸어 보면서 더 좋은 정확도가 나오는지 시험해 보자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590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105497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전체 코드는 다음과 같음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FB96D6-B50A-923F-8196-B69BBF174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17" y="2449681"/>
            <a:ext cx="7097115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67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91A379-3811-4CA1-89E8-0716B171E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4110000"/>
            <a:ext cx="6682412" cy="2717813"/>
          </a:xfrm>
          <a:prstGeom prst="rect">
            <a:avLst/>
          </a:prstGeom>
        </p:spPr>
      </p:pic>
      <p:sp>
        <p:nvSpPr>
          <p:cNvPr id="3" name="내용 개체 틀 4"/>
          <p:cNvSpPr txBox="1">
            <a:spLocks/>
          </p:cNvSpPr>
          <p:nvPr/>
        </p:nvSpPr>
        <p:spPr>
          <a:xfrm>
            <a:off x="366689" y="1527969"/>
            <a:ext cx="8105497" cy="4964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이용해서 예측을 실행해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라이브러리를 사용하기 때문에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iloc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[]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각각 저장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iloc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데이터 프레임에서 대괄호 안에 정한 범위만큼 가져와 저장하게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이전과 달라진 점은 은닉층이 하나 더 추가되었다는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층의 이름은 자동으로 정해지는데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따로 이름을 만들려면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Dense()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 안에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name=‘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층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이름’을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추가해 주면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층과 층의 연결을 한눈에 볼 수 있게 해 주는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model.summary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부분이 추가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7718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04E11AA-8877-4B06-AED0-AE52561FB27A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11-6 | </a:t>
            </a:r>
            <a:r>
              <a:rPr lang="ko-KR" altLang="en-US" sz="1600" b="1" dirty="0"/>
              <a:t>피마 인디언 당뇨병 예측 모델의 구조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823BA9-8B0F-4B9C-B5D1-27C739425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71" y="1928331"/>
            <a:ext cx="69723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94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105497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층과 층의 연결을 한눈에 볼 수 있게 해 주는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model.summary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부분이 추가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model.summary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실행 결과는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(none,12)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로 되어 있는데 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none 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에는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몇 개의 샘플이 들어가는지가 </a:t>
            </a:r>
            <a:r>
              <a:rPr lang="ko-KR" altLang="en-US" b="1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출력이된다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샘플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뒤는 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속성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:node)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수를 의미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b="1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Batch_size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를 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5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로 주었지만 출력되지 않았다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731E80-9BB9-D7D1-ACFF-6B45C605E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3486607"/>
            <a:ext cx="4954202" cy="3199037"/>
          </a:xfrm>
          <a:prstGeom prst="rect">
            <a:avLst/>
          </a:prstGeom>
        </p:spPr>
      </p:pic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E69A5049-EA40-778F-AEFA-484AC4FC2C71}"/>
              </a:ext>
            </a:extLst>
          </p:cNvPr>
          <p:cNvSpPr txBox="1">
            <a:spLocks/>
          </p:cNvSpPr>
          <p:nvPr/>
        </p:nvSpPr>
        <p:spPr>
          <a:xfrm>
            <a:off x="5896961" y="3486607"/>
            <a:ext cx="3168386" cy="3199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Param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부분은 파라미터 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 총 가중치와 바이어스 수의 합을 나타냄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첫 번째 층의 경우 입력 값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개가 층 안에서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노드로 분산되므로 가중치가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8×12 = 96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개가 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노드에 바이어스가 한 개씩 있으니 전체 파라미터 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96 + 12 = 108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됨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72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105497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3D47DE-E9B7-43D5-AFAC-74F5E3466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1873611"/>
            <a:ext cx="70866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42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105497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피마 인디언의 당뇨병 예측 실행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번을 반복한 현재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약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71.61%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정확도를 보이고 있음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DE7FC1-87CD-4DE9-AFFB-BB37BA41D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66" y="1886479"/>
            <a:ext cx="70770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94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3430</TotalTime>
  <Words>1627</Words>
  <Application>Microsoft Office PowerPoint</Application>
  <PresentationFormat>화면 슬라이드 쇼(4:3)</PresentationFormat>
  <Paragraphs>179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PowerPoint 프레젠테이션</vt:lpstr>
      <vt:lpstr>1 딥러닝과 데이터</vt:lpstr>
      <vt:lpstr>1 딥러닝과 데이터</vt:lpstr>
      <vt:lpstr>1 딥러닝과 데이터</vt:lpstr>
      <vt:lpstr>PowerPoint 프레젠테이션</vt:lpstr>
      <vt:lpstr>2 피마 인디언 데이터 분석하기</vt:lpstr>
      <vt:lpstr>2 피마 인디언 데이터 분석하기</vt:lpstr>
      <vt:lpstr>2 피마 인디언 데이터 분석하기</vt:lpstr>
      <vt:lpstr>2 피마 인디언 데이터 분석하기</vt:lpstr>
      <vt:lpstr>2 피마 인디언 데이터 분석하기</vt:lpstr>
      <vt:lpstr>2 피마 인디언 데이터 분석하기</vt:lpstr>
      <vt:lpstr>PowerPoint 프레젠테이션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3 판다스를 활용한 데이터 조사</vt:lpstr>
      <vt:lpstr>PowerPoint 프레젠테이션</vt:lpstr>
      <vt:lpstr>4 중요한 데이터 추출하기</vt:lpstr>
      <vt:lpstr>4 중요한 데이터 추출하기</vt:lpstr>
      <vt:lpstr>4 중요한 데이터 추출하기</vt:lpstr>
      <vt:lpstr>5 피마 인디언의 당뇨병 예측 실행</vt:lpstr>
      <vt:lpstr>5 피마 인디언의 당뇨병 예측 실행</vt:lpstr>
      <vt:lpstr>5 피마 인디언의 당뇨병 예측 실행</vt:lpstr>
      <vt:lpstr>5 피마 인디언의 당뇨병 예측 실행</vt:lpstr>
      <vt:lpstr>5 피마 인디언의 당뇨병 예측 실행</vt:lpstr>
      <vt:lpstr>5 피마 인디언의 당뇨병 예측 실행</vt:lpstr>
      <vt:lpstr>5 피마 인디언의 당뇨병 예측 실행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445</cp:revision>
  <cp:lastPrinted>2016-08-10T06:58:55Z</cp:lastPrinted>
  <dcterms:created xsi:type="dcterms:W3CDTF">2013-04-05T19:58:06Z</dcterms:created>
  <dcterms:modified xsi:type="dcterms:W3CDTF">2025-05-30T07:40:38Z</dcterms:modified>
</cp:coreProperties>
</file>