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24"/>
  </p:notesMasterIdLst>
  <p:handoutMasterIdLst>
    <p:handoutMasterId r:id="rId25"/>
  </p:handoutMasterIdLst>
  <p:sldIdLst>
    <p:sldId id="267" r:id="rId3"/>
    <p:sldId id="270" r:id="rId4"/>
    <p:sldId id="272" r:id="rId5"/>
    <p:sldId id="274" r:id="rId6"/>
    <p:sldId id="275" r:id="rId7"/>
    <p:sldId id="278" r:id="rId8"/>
    <p:sldId id="279" r:id="rId9"/>
    <p:sldId id="281" r:id="rId10"/>
    <p:sldId id="284" r:id="rId11"/>
    <p:sldId id="285" r:id="rId12"/>
    <p:sldId id="287" r:id="rId13"/>
    <p:sldId id="296" r:id="rId14"/>
    <p:sldId id="297" r:id="rId15"/>
    <p:sldId id="298" r:id="rId16"/>
    <p:sldId id="301" r:id="rId17"/>
    <p:sldId id="303" r:id="rId18"/>
    <p:sldId id="304" r:id="rId19"/>
    <p:sldId id="306" r:id="rId20"/>
    <p:sldId id="308" r:id="rId21"/>
    <p:sldId id="311" r:id="rId22"/>
    <p:sldId id="312" r:id="rId23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728" y="45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딥러닝을</a:t>
            </a:r>
            <a:r>
              <a:rPr lang="ko-KR" altLang="en-US" dirty="0"/>
              <a:t> 이야기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044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21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0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첫째마당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시작을 위한 준비 운동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3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딥러닝을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 위한 기초 수학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2079739" y="1182327"/>
            <a:ext cx="5020017" cy="10452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4824214" cy="4317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일차 함수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기울기와 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y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절편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이차 함수와 최솟값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미분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순간 변화율과 기울기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편미분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5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지수와 지수 함수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6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시그모이드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함수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7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로그와 로그 함수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1 </a:t>
            </a:r>
            <a:r>
              <a:rPr lang="ko-KR" altLang="en-US" sz="2600" dirty="0"/>
              <a:t>일차 함수</a:t>
            </a:r>
            <a:r>
              <a:rPr lang="en-US" altLang="ko-KR" sz="2600" dirty="0"/>
              <a:t>, </a:t>
            </a:r>
            <a:r>
              <a:rPr lang="ko-KR" altLang="en-US" sz="2600" dirty="0"/>
              <a:t>기울기와 </a:t>
            </a:r>
            <a:r>
              <a:rPr lang="en-US" altLang="ko-KR" sz="2600" dirty="0"/>
              <a:t>y </a:t>
            </a:r>
            <a:r>
              <a:rPr lang="ko-KR" altLang="en-US" sz="2600" dirty="0"/>
              <a:t>절편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일차 함수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기울기와 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y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절편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일차 함수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기울기와 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y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절편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이야기 할 때는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 함수를 이야기하게 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일차인 형태이며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일차로 남으려면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아니어야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아래와 같은 그래프가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차함수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그래프가 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0FC5F0-55BC-4F67-8D45-2CA0E460A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1638300" cy="2952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93E0C62-82EF-516D-C420-5F1FABAA32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044" y="3259765"/>
            <a:ext cx="3110778" cy="2606753"/>
          </a:xfrm>
          <a:prstGeom prst="rect">
            <a:avLst/>
          </a:prstGeom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CB6090FC-BBF6-BAA2-977A-C50ACB3B1995}"/>
              </a:ext>
            </a:extLst>
          </p:cNvPr>
          <p:cNvSpPr txBox="1">
            <a:spLocks/>
          </p:cNvSpPr>
          <p:nvPr/>
        </p:nvSpPr>
        <p:spPr>
          <a:xfrm>
            <a:off x="539509" y="5570669"/>
            <a:ext cx="8105496" cy="1707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en-US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일차 함수로 만들어진 선형 직선이 기준선이 되어 어디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위치하냐에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따라서 예측을 할 수 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 선을 그려주는 것이 중요 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1790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일차 함수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기울기와 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y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절편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일차 함수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기울기와 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y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절편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일차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함수식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= ax + 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기울기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절편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기울기는 기울어진 정도를 의미하는데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x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증가할 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어느 정도 증가하는지에 따라 그래프의 기울기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정해짐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절편은 그래프가 축과 만나는 지점을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주어지고 원하는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있을 때 적절한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찾는 것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이것이 바로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설명하는 가장 간단한 표현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선과 데이터 사이를 계산해서 계산된 값을 오차라고 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그러므로 선과 데이터 사이의 값이 작은 최적의 선을 찾는 것이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107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2 </a:t>
            </a:r>
            <a:r>
              <a:rPr lang="ko-KR" altLang="en-US" sz="2600" dirty="0"/>
              <a:t>이차 함수와 최솟값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453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이차 함수와 최솟값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4"/>
            <a:ext cx="8105496" cy="4734202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이차 함수와 최솟값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이차 함수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관한 이차식으로 표현되는 경우를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같은 함수식으로 표현할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 &gt; 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이면 아래로 볼록한 그래프가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차함수의 최적의 그래프는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 함수의 꼭지점이 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B8F679-635A-444B-8C30-4EBC96538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392074"/>
            <a:ext cx="1419225" cy="3429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9FA52CA-8D9E-2FBE-F8CF-4DB8B4250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506" y="3140965"/>
            <a:ext cx="36671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33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이차 함수와 최솟값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이차 함수와 최솟값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= ax</a:t>
            </a:r>
            <a:r>
              <a:rPr lang="en-US" altLang="ko-KR" baseline="30000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그래프를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축 방향으로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축 방향으로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q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만큼 평행 이동시키면 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p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q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꼭짓점으로 하는 포물선이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포물선의 맨 아래에 위치한 지점이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최솟값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실행할 때는 이 최솟값을 찾아내는 과정이 매우 중요함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642356-A082-10C3-1A71-A5CA42234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471" y="3245245"/>
            <a:ext cx="512445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25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3 </a:t>
            </a:r>
            <a:r>
              <a:rPr lang="ko-KR" altLang="en-US" sz="2600" dirty="0"/>
              <a:t>미분</a:t>
            </a:r>
            <a:r>
              <a:rPr lang="en-US" altLang="ko-KR" sz="2600" dirty="0"/>
              <a:t>, </a:t>
            </a:r>
            <a:r>
              <a:rPr lang="ko-KR" altLang="en-US" sz="2600" dirty="0"/>
              <a:t>순간 변화율과 기울기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209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미분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순간 변화율과 기울기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6781" y="1459932"/>
            <a:ext cx="8105496" cy="5713523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미분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순간 변화율과 기울기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결국 일차 함수의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값을 구하는 것인데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값은 이차 함수 포물선의 최솟값을 구하는 것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최솟값을 미분으로 구하기 때문에 미분이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중요한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기울기란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점과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점을 연결하는 것이 기울기 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기울기를 정하는 것은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축의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증가값에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증가값을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나눠주는 것이다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써서 표현하면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증가량은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Δx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y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증가량은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f(a +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Δx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) - f(a)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나타낼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3D7A5A-9331-3A33-741C-22A40B75B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227" y="2718660"/>
            <a:ext cx="2615002" cy="23809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F23A606-9C30-BF2B-4124-B1153D85D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87" y="2689176"/>
            <a:ext cx="2513363" cy="24104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BD1423-D201-97F4-D8BC-F5A33A8B2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850" y="2680109"/>
            <a:ext cx="2446253" cy="23528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BF8552-8933-390D-65FB-A029C1A93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576" y="6136529"/>
            <a:ext cx="565785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47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미분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순간 변화율과 기울기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미분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순간 변화율과 기울기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미세하게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가까울 만큼’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움직였이면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 역시 매우 미세하게 변화를 할 텐데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너무 미세해서 순간적인 변화만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순간의 변화를 놓고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순간 변화율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이름을 붙였음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순간 변화율은 어느 쪽을 향하는 방향성을 지니고 있으므로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방향을 따라 직선을 길게 그려 주면 그래프와 맞닿는 접선이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그려짐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선이 바로 이 점에서의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기울기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미분을 한다는 것은 쉽게 말해 이 ‘순간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변화율’을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구한다는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순간 변화율은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증가량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Δx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가까울 만큼 아주 작을 때의 순간적인 기울기를 의미하므로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극한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(limit)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기호를 사용해 다음과 같이 나타냄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22DDB7-E609-3CF7-54AE-AC1E85CF1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45" y="4619722"/>
            <a:ext cx="2361887" cy="215048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CD7F50B-BC3E-44C6-4DA2-538AE70D8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358" y="4581140"/>
            <a:ext cx="3219882" cy="195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5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미분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순간 변화율과 기울기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미분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순간 변화율과 기울기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공부하는 과정 중에 자주 만나게 되는 중요한 다섯 가지 미분의 기본 공식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D25AD9-8237-4712-9F20-1FA7A040E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234" y="2596813"/>
            <a:ext cx="70104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514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4 </a:t>
            </a:r>
            <a:r>
              <a:rPr lang="ko-KR" altLang="en-US" sz="2600" dirty="0" err="1"/>
              <a:t>편미분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366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편미분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편미분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여러 가지 변수가 식 안에 있을 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변수를 미분하는 것이 아니라 우리가 원하는 한 가지 변수만 미분하고 그 외에는 모두 상수로 취급하는 것이 바로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편미분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f(x) = 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같은 식을 미분할 때는 변수가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하나뿐이어서 미분하라는 의미에 혼란이 없음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여기에는 변수가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두 개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두개의 변수 중 하나의 변수만 미분하는 것을 편미분이라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만일 이 식처럼 여러 변수 중에서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관해서만 미분하고 싶다면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f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관해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편미분하라’고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하며 다음과 같이 식을 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F0E5B9-1CDF-4EDB-AA73-B0A6EBE3C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17" y="3256179"/>
            <a:ext cx="2343150" cy="3524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D7ED461-A632-BEA8-1FCA-D4FA977C72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804" y="4926782"/>
            <a:ext cx="21621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82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5 </a:t>
            </a:r>
            <a:r>
              <a:rPr lang="ko-KR" altLang="en-US" sz="2600" dirty="0"/>
              <a:t>지수와 지수 함수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176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지수와 지수 함수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지수와 지수 함수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밑’이라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하고     를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지수’라고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    만큼 반복해서 곱한다는 뜻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지수 함수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란 변수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지수 자리에 있는 경우를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식으로 나타내면 다음과 같은 형태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지수 함수에서는 밑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(a)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무엇인지가 중요하다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이면 함수가 아니다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승은 무조건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이므로 함수라 할 수 없다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보다 작으면 허수를 포함하게 되므로 안 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밑의 값은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 &gt; 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이거나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 &lt; a &lt; 1,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둘 중 하나가 되어야 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18C1AA-7DFE-4821-93C2-9238F0171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829" y="2922196"/>
            <a:ext cx="190500" cy="180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1F3E05-8A9D-4F80-97EA-CD4169323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074" y="2564895"/>
            <a:ext cx="190500" cy="1809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EB51479-4046-4F9C-933D-516A2D6DA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3889856"/>
            <a:ext cx="1905000" cy="2952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BD808E1-CA18-DBF1-8461-34978C475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34" y="1792037"/>
            <a:ext cx="66675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36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지수와 지수 함수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지수와 지수 함수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밑의 값은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 &gt; 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이면 왼쪽 그래프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 &lt; a &lt; 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이면 오른쪽 그래프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4D523A-3B40-020E-C4E0-696A96712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45" y="2334467"/>
            <a:ext cx="621982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79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6 </a:t>
            </a:r>
            <a:r>
              <a:rPr lang="ko-KR" altLang="en-US" sz="2600" dirty="0" err="1"/>
              <a:t>시그모이드</a:t>
            </a:r>
            <a:r>
              <a:rPr lang="ko-KR" altLang="en-US" sz="2600" dirty="0"/>
              <a:t> 함수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931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6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시그모이드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 함수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시그모이드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함수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 상수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‘자연 로그의 밑’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오일러의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수’ 등 여러 이름으로 불리는데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파이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(π)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처럼 수학에서 중요하게 사용되는 무리수이며 그 값은 대략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2.718281828…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큰 값을 가지면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f(x)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가까워지고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작은 값을 가지면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f(x)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가까워지는 그래프를 말한다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 형태로 그려지는 이 함수의 속성은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두 개의 값 중 하나를 고를 때 유용하게 쓰임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 상수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지수 함수에 포함되어 분모에 들어가면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시그모이드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 함수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식으로 나타내면 다음과 같고 그래프는 그림과 같다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2B185F-9D93-4091-948D-3244B2C92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684" y="4523533"/>
            <a:ext cx="1390650" cy="5238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757D7D6-EC12-ED61-6F16-2A41842DC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073" y="4518062"/>
            <a:ext cx="366712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6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7 </a:t>
            </a:r>
            <a:r>
              <a:rPr lang="ko-KR" altLang="en-US" sz="2600" dirty="0"/>
              <a:t>로그와 로그 함수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547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7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로그와 로그 함수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로그와 로그 함수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만큼 거듭제곱한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할 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구하기 위해 사용하는 방법이 로그이다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C32B3A3-526D-2C90-C021-E889AA101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10" y="2476043"/>
            <a:ext cx="904875" cy="8953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2A74CC-F6EC-40FF-9689-BD40060F3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205" y="2269726"/>
            <a:ext cx="2071336" cy="18719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64DDC9-C609-4822-8C69-DBCA17394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4523533"/>
            <a:ext cx="1785353" cy="18719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EAAFA7-8CBE-17D1-C1E3-60060E981A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085" y="2334467"/>
            <a:ext cx="2318899" cy="16604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6098FD-5EA9-96EB-8278-5C68C94C83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043" y="4408319"/>
            <a:ext cx="1906997" cy="19632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0ECAD39-DEF4-2BEF-DD5D-A5A60D4ED3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75" y="4350712"/>
            <a:ext cx="2023524" cy="20162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852FAF-9854-B5B7-B338-AE74408B4E1C}"/>
              </a:ext>
            </a:extLst>
          </p:cNvPr>
          <p:cNvSpPr txBox="1"/>
          <p:nvPr/>
        </p:nvSpPr>
        <p:spPr>
          <a:xfrm>
            <a:off x="1888961" y="4207095"/>
            <a:ext cx="2455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KoPub돋움체_Pro Light" pitchFamily="18" charset="-127"/>
                <a:ea typeface="KoPub돋움체_Pro Light" pitchFamily="18" charset="-127"/>
              </a:rPr>
              <a:t>지수 함수 </a:t>
            </a:r>
            <a:r>
              <a:rPr lang="en-US" altLang="ko-KR" sz="1000" dirty="0">
                <a:latin typeface="KoPub돋움체_Pro Light" pitchFamily="18" charset="-127"/>
                <a:ea typeface="KoPub돋움체_Pro Light" pitchFamily="18" charset="-127"/>
              </a:rPr>
              <a:t>y = a</a:t>
            </a:r>
            <a:r>
              <a:rPr lang="en-US" altLang="ko-KR" sz="1000" baseline="30000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sz="1000" dirty="0">
                <a:latin typeface="KoPub돋움체_Pro Light" pitchFamily="18" charset="-127"/>
                <a:ea typeface="KoPub돋움체_Pro Light" pitchFamily="18" charset="-127"/>
              </a:rPr>
              <a:t>의 그래프와 로그 함수 </a:t>
            </a:r>
            <a:r>
              <a:rPr lang="en-US" altLang="ko-KR" sz="1000" dirty="0">
                <a:latin typeface="KoPub돋움체_Pro Light" pitchFamily="18" charset="-127"/>
                <a:ea typeface="KoPub돋움체_Pro Light" pitchFamily="18" charset="-127"/>
              </a:rPr>
              <a:t>y = </a:t>
            </a:r>
            <a:r>
              <a:rPr lang="en-US" altLang="ko-KR" sz="1000" dirty="0" err="1">
                <a:latin typeface="KoPub돋움체_Pro Light" pitchFamily="18" charset="-127"/>
                <a:ea typeface="KoPub돋움체_Pro Light" pitchFamily="18" charset="-127"/>
              </a:rPr>
              <a:t>log</a:t>
            </a:r>
            <a:r>
              <a:rPr lang="en-US" altLang="ko-KR" sz="1000" baseline="-25000" dirty="0" err="1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en-US" altLang="ko-KR" sz="1000" dirty="0" err="1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sz="1000" dirty="0">
                <a:latin typeface="KoPub돋움체_Pro Light" pitchFamily="18" charset="-127"/>
                <a:ea typeface="KoPub돋움체_Pro Light" pitchFamily="18" charset="-127"/>
              </a:rPr>
              <a:t>는 대칭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8B6656-060B-B8CA-4FE4-679E006DBA96}"/>
              </a:ext>
            </a:extLst>
          </p:cNvPr>
          <p:cNvSpPr txBox="1"/>
          <p:nvPr/>
        </p:nvSpPr>
        <p:spPr>
          <a:xfrm>
            <a:off x="5320891" y="4005070"/>
            <a:ext cx="2659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파란색은 </a:t>
            </a:r>
            <a:r>
              <a:rPr lang="en-US" altLang="ko-KR" sz="1000" dirty="0"/>
              <a:t>x</a:t>
            </a:r>
            <a:r>
              <a:rPr lang="ko-KR" altLang="en-US" sz="1000" dirty="0"/>
              <a:t>값이 </a:t>
            </a:r>
            <a:r>
              <a:rPr lang="en-US" altLang="ko-KR" sz="1000" dirty="0"/>
              <a:t>0</a:t>
            </a:r>
            <a:r>
              <a:rPr lang="ko-KR" altLang="en-US" sz="1000" dirty="0"/>
              <a:t>에 가까울 수록 오차가 커짐</a:t>
            </a:r>
            <a:endParaRPr lang="en-US" altLang="ko-KR" sz="1000" dirty="0"/>
          </a:p>
          <a:p>
            <a:r>
              <a:rPr lang="ko-KR" altLang="en-US" sz="1000" dirty="0"/>
              <a:t>빨간색은 </a:t>
            </a:r>
            <a:r>
              <a:rPr lang="en-US" altLang="ko-KR" sz="1000" dirty="0"/>
              <a:t>x</a:t>
            </a:r>
            <a:r>
              <a:rPr lang="ko-KR" altLang="en-US" sz="1000" dirty="0"/>
              <a:t>값이 </a:t>
            </a:r>
            <a:r>
              <a:rPr lang="en-US" altLang="ko-KR" sz="1000" dirty="0"/>
              <a:t>1</a:t>
            </a:r>
            <a:r>
              <a:rPr lang="ko-KR" altLang="en-US" sz="1000" dirty="0"/>
              <a:t>에 가까울 수록 오차가 커짐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1B4DAE-F0A2-987F-E3A5-3FD062A1BB7B}"/>
              </a:ext>
            </a:extLst>
          </p:cNvPr>
          <p:cNvSpPr txBox="1"/>
          <p:nvPr/>
        </p:nvSpPr>
        <p:spPr>
          <a:xfrm>
            <a:off x="601345" y="6366957"/>
            <a:ext cx="2472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위 왼쪽 그래프의 로그함수를 </a:t>
            </a:r>
            <a:r>
              <a:rPr lang="en-US" altLang="ko-KR" sz="1000" dirty="0"/>
              <a:t>x</a:t>
            </a:r>
            <a:r>
              <a:rPr lang="ko-KR" altLang="en-US" sz="1000" dirty="0"/>
              <a:t>축으로 대칭 이동한 그래프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DD5783-F8FB-EDF4-0A17-D68E17FB5F27}"/>
              </a:ext>
            </a:extLst>
          </p:cNvPr>
          <p:cNvSpPr txBox="1"/>
          <p:nvPr/>
        </p:nvSpPr>
        <p:spPr>
          <a:xfrm>
            <a:off x="3202822" y="6350544"/>
            <a:ext cx="2406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위 왼쪽 그래프의 로그함수를 </a:t>
            </a:r>
            <a:r>
              <a:rPr lang="en-US" altLang="ko-KR" sz="1000" dirty="0"/>
              <a:t>y</a:t>
            </a:r>
            <a:r>
              <a:rPr lang="ko-KR" altLang="en-US" sz="1000" dirty="0"/>
              <a:t>축으로 대칭 이동한 그래프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C07B8B-77FF-FBAF-DA3A-0F99E6453DCA}"/>
              </a:ext>
            </a:extLst>
          </p:cNvPr>
          <p:cNvSpPr txBox="1"/>
          <p:nvPr/>
        </p:nvSpPr>
        <p:spPr>
          <a:xfrm>
            <a:off x="5820885" y="6427703"/>
            <a:ext cx="25531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위 왼쪽 그래프의 로그함수를 </a:t>
            </a:r>
            <a:r>
              <a:rPr lang="en-US" altLang="ko-KR" sz="1000" dirty="0"/>
              <a:t>y</a:t>
            </a:r>
            <a:r>
              <a:rPr lang="ko-KR" altLang="en-US" sz="1000" dirty="0"/>
              <a:t>축으로 대칭 이동한 그래프르 </a:t>
            </a:r>
            <a:r>
              <a:rPr lang="en-US" altLang="ko-KR" sz="1000" dirty="0"/>
              <a:t>x</a:t>
            </a:r>
            <a:r>
              <a:rPr lang="ko-KR" altLang="en-US" sz="1000" dirty="0"/>
              <a:t>축으로 </a:t>
            </a:r>
            <a:r>
              <a:rPr lang="en-US" altLang="ko-KR" sz="1000" dirty="0"/>
              <a:t>1</a:t>
            </a:r>
            <a:r>
              <a:rPr lang="ko-KR" altLang="en-US" sz="1000" dirty="0"/>
              <a:t>만큼 이동</a:t>
            </a:r>
          </a:p>
        </p:txBody>
      </p:sp>
    </p:spTree>
    <p:extLst>
      <p:ext uri="{BB962C8B-B14F-4D97-AF65-F5344CB8AC3E}">
        <p14:creationId xmlns:p14="http://schemas.microsoft.com/office/powerpoint/2010/main" val="39285202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2292</TotalTime>
  <Words>990</Words>
  <Application>Microsoft Office PowerPoint</Application>
  <PresentationFormat>화면 슬라이드 쇼(4:3)</PresentationFormat>
  <Paragraphs>130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KoPub돋움체_Pro Bold</vt:lpstr>
      <vt:lpstr>KoPub돋움체_Pro Light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1 일차 함수, 기울기와 y 절편</vt:lpstr>
      <vt:lpstr>1 일차 함수, 기울기와 y 절편</vt:lpstr>
      <vt:lpstr>1 일차 함수, 기울기와 y 절편</vt:lpstr>
      <vt:lpstr>2 이차 함수와 최솟값</vt:lpstr>
      <vt:lpstr>2 이차 함수와 최솟값</vt:lpstr>
      <vt:lpstr>2 이차 함수와 최솟값</vt:lpstr>
      <vt:lpstr>3 미분, 순간 변화율과 기울기</vt:lpstr>
      <vt:lpstr>3 미분, 순간 변화율과 기울기</vt:lpstr>
      <vt:lpstr>3 미분, 순간 변화율과 기울기</vt:lpstr>
      <vt:lpstr>3 미분, 순간 변화율과 기울기</vt:lpstr>
      <vt:lpstr>4 편미분</vt:lpstr>
      <vt:lpstr>4 편미분</vt:lpstr>
      <vt:lpstr>5 지수와 지수 함수</vt:lpstr>
      <vt:lpstr>5 지수와 지수 함수</vt:lpstr>
      <vt:lpstr>5 지수와 지수 함수</vt:lpstr>
      <vt:lpstr>6 시그모이드 함수</vt:lpstr>
      <vt:lpstr>6 시그모이드 함수</vt:lpstr>
      <vt:lpstr>7 로그와 로그 함수</vt:lpstr>
      <vt:lpstr>7 로그와 로그 함수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267</cp:revision>
  <cp:lastPrinted>2016-08-10T06:58:55Z</cp:lastPrinted>
  <dcterms:created xsi:type="dcterms:W3CDTF">2013-04-05T19:58:06Z</dcterms:created>
  <dcterms:modified xsi:type="dcterms:W3CDTF">2025-06-20T05:06:37Z</dcterms:modified>
</cp:coreProperties>
</file>