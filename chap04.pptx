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15"/>
  </p:notesMasterIdLst>
  <p:handoutMasterIdLst>
    <p:handoutMasterId r:id="rId16"/>
  </p:handoutMasterIdLst>
  <p:sldIdLst>
    <p:sldId id="267" r:id="rId3"/>
    <p:sldId id="270" r:id="rId4"/>
    <p:sldId id="272" r:id="rId5"/>
    <p:sldId id="343" r:id="rId6"/>
    <p:sldId id="280" r:id="rId7"/>
    <p:sldId id="281" r:id="rId8"/>
    <p:sldId id="344" r:id="rId9"/>
    <p:sldId id="345" r:id="rId10"/>
    <p:sldId id="346" r:id="rId11"/>
    <p:sldId id="282" r:id="rId12"/>
    <p:sldId id="316" r:id="rId13"/>
    <p:sldId id="347" r:id="rId14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69" autoAdjust="0"/>
  </p:normalViewPr>
  <p:slideViewPr>
    <p:cSldViewPr showGuides="1">
      <p:cViewPr varScale="1">
        <p:scale>
          <a:sx n="93" d="100"/>
          <a:sy n="93" d="100"/>
        </p:scale>
        <p:origin x="2133" y="33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딥러닝을</a:t>
            </a:r>
            <a:r>
              <a:rPr lang="ko-KR" altLang="en-US" dirty="0"/>
              <a:t> 이해하려면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선형 회귀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로지스틱 회귀를 알아야 한다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309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그래프를 보면 </a:t>
            </a:r>
            <a:r>
              <a:rPr lang="ko-KR" altLang="en-US" dirty="0" err="1"/>
              <a:t>실제값과</a:t>
            </a:r>
            <a:r>
              <a:rPr lang="ko-KR" altLang="en-US" dirty="0"/>
              <a:t> </a:t>
            </a:r>
            <a:r>
              <a:rPr lang="ko-KR" altLang="en-US" dirty="0" err="1"/>
              <a:t>예측값의</a:t>
            </a:r>
            <a:r>
              <a:rPr lang="ko-KR" altLang="en-US" dirty="0"/>
              <a:t> 차이가 있는데 이 차이를 오차라고 한다</a:t>
            </a:r>
            <a:r>
              <a:rPr lang="en-US" altLang="ko-KR" dirty="0"/>
              <a:t>. </a:t>
            </a:r>
            <a:r>
              <a:rPr lang="ko-KR" altLang="en-US" dirty="0"/>
              <a:t>표본 편차라고도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44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오차가 적어질 때까지 수정을 해 나간다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여기서 </a:t>
            </a:r>
            <a:r>
              <a:rPr lang="ko-KR" altLang="en-US" dirty="0" err="1"/>
              <a:t>오차란</a:t>
            </a:r>
            <a:r>
              <a:rPr lang="ko-KR" altLang="en-US" dirty="0"/>
              <a:t> </a:t>
            </a:r>
            <a:r>
              <a:rPr lang="ko-KR" altLang="en-US" dirty="0" err="1"/>
              <a:t>실제값과</a:t>
            </a:r>
            <a:r>
              <a:rPr lang="ko-KR" altLang="en-US" dirty="0"/>
              <a:t> </a:t>
            </a:r>
            <a:r>
              <a:rPr lang="ko-KR" altLang="en-US" dirty="0" err="1"/>
              <a:t>예측값의</a:t>
            </a:r>
            <a:r>
              <a:rPr lang="ko-KR" altLang="en-US" dirty="0"/>
              <a:t> 차이를 말한다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794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6/20/2025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둘째마당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예측 모델의 기본 원리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4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가장 훌륭한 예측선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079739" y="1182327"/>
            <a:ext cx="5020017" cy="10452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4824214" cy="3701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선형 회귀의 정의 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가장 훌륭한 예측선이란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?</a:t>
            </a: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최소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제곱법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파이썬 코딩으로 확인하는 최소 제곱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5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평균 제곱 오차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6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파이썬 코딩으로 확인하는 평균 제곱 오차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1 </a:t>
            </a:r>
            <a:r>
              <a:rPr lang="ko-KR" altLang="en-US" sz="2600" dirty="0"/>
              <a:t>선형 회귀의 정의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86104" y="6490355"/>
            <a:ext cx="2133600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4D8F87-EFE2-4323-AEA5-B78683F9A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127" y="3486607"/>
            <a:ext cx="2765136" cy="16064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B1E98B-3790-7276-0CB2-22E899060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542" y="3429000"/>
            <a:ext cx="3110778" cy="1567899"/>
          </a:xfrm>
          <a:prstGeom prst="rect">
            <a:avLst/>
          </a:prstGeom>
        </p:spPr>
      </p:pic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8973D348-3D14-63D8-2FB2-917E5AA006EF}"/>
              </a:ext>
            </a:extLst>
          </p:cNvPr>
          <p:cNvSpPr txBox="1">
            <a:spLocks/>
          </p:cNvSpPr>
          <p:nvPr/>
        </p:nvSpPr>
        <p:spPr>
          <a:xfrm>
            <a:off x="498995" y="1412755"/>
            <a:ext cx="8105496" cy="2277487"/>
          </a:xfrm>
          <a:prstGeom prst="rect">
            <a:avLst/>
          </a:prstGeom>
        </p:spPr>
        <p:txBody>
          <a:bodyPr/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800" kern="1200">
                <a:solidFill>
                  <a:srgbClr val="504B4B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  <a:lvl2pPr marL="573088" indent="-238125" algn="l" defTabSz="4572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600" kern="1200">
                <a:solidFill>
                  <a:srgbClr val="504B4B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lvl2pPr>
            <a:lvl3pPr marL="860425" indent="-182563" algn="l" defTabSz="4572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400" kern="1200">
                <a:solidFill>
                  <a:srgbClr val="504B4B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lvl3pPr>
            <a:lvl4pPr marL="1198563" indent="-225425" algn="l" defTabSz="457200" rtl="0" eaLnBrk="1" latinLnBrk="0" hangingPunct="1">
              <a:lnSpc>
                <a:spcPct val="110000"/>
              </a:lnSpc>
              <a:spcBef>
                <a:spcPts val="10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lvl4pPr>
            <a:lvl5pPr marL="1544638" indent="-228600" algn="l" defTabSz="457200" rtl="0" eaLnBrk="1" latinLnBrk="0" hangingPunct="1">
              <a:lnSpc>
                <a:spcPct val="110000"/>
              </a:lnSpc>
              <a:spcBef>
                <a:spcPts val="0"/>
              </a:spcBef>
              <a:buClr>
                <a:srgbClr val="E0AC00"/>
              </a:buClr>
              <a:buFont typeface="Wingdings" panose="05000000000000000000" pitchFamily="2" charset="2"/>
              <a:buChar char="l"/>
              <a:defRPr sz="1200" kern="1200">
                <a:solidFill>
                  <a:srgbClr val="504B4B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가장 훌륭한 예측선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sz="1400" dirty="0"/>
              <a:t>우리의 목표는 아래 그래프와 같이 데이터 분포가 있을 때 점들의 특징을 가장 잘 나타내는 함수식을 구하는 것이다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왼쪽 그래프와 같이 데이터가 있을 때에는 점들의 분포에 맞게 선형회귀 선이 그어주면 된다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오른쪽 그래프와 같이 데이터가 있을 때에는 </a:t>
            </a:r>
            <a:r>
              <a:rPr lang="en-US" altLang="ko-KR" sz="1400" dirty="0"/>
              <a:t>S</a:t>
            </a:r>
            <a:r>
              <a:rPr lang="ko-KR" altLang="en-US" sz="1400" dirty="0"/>
              <a:t>모양으로 선이 그어지게 되어 클래스가 정해져 있어서 </a:t>
            </a:r>
            <a:r>
              <a:rPr lang="en-US" altLang="ko-KR" sz="1400" dirty="0"/>
              <a:t>0</a:t>
            </a:r>
            <a:r>
              <a:rPr lang="ko-KR" altLang="en-US" sz="1400" dirty="0"/>
              <a:t>아니면 </a:t>
            </a:r>
            <a:r>
              <a:rPr lang="en-US" altLang="ko-KR" sz="1400" dirty="0"/>
              <a:t>1</a:t>
            </a:r>
            <a:r>
              <a:rPr lang="ko-KR" altLang="en-US" sz="1400" dirty="0"/>
              <a:t>과 같은 경우에 해당할 것이다</a:t>
            </a:r>
            <a:r>
              <a:rPr lang="en-US" altLang="ko-KR" sz="1400" dirty="0"/>
              <a:t>.</a:t>
            </a:r>
          </a:p>
          <a:p>
            <a:pPr lvl="1"/>
            <a:r>
              <a:rPr lang="ko-KR" altLang="en-US" sz="1400" dirty="0"/>
              <a:t>그래서 </a:t>
            </a:r>
            <a:r>
              <a:rPr lang="ko-KR" altLang="en-US" sz="1400" dirty="0" err="1"/>
              <a:t>딥러닝이라는</a:t>
            </a:r>
            <a:r>
              <a:rPr lang="ko-KR" altLang="en-US" sz="1400" dirty="0"/>
              <a:t> 것은 이렇게 적절한 선을 긋는 것을 말한다</a:t>
            </a:r>
            <a:r>
              <a:rPr lang="en-US" altLang="ko-KR" sz="1400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681862-E459-446A-2944-5C4CC6E9F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5105490"/>
            <a:ext cx="2769030" cy="166471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0E6E98-4397-E70C-0B49-2BF8588A3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99603"/>
            <a:ext cx="3225927" cy="166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2 </a:t>
            </a:r>
            <a:r>
              <a:rPr lang="ko-KR" altLang="en-US" sz="2600" dirty="0"/>
              <a:t>가장 훌륭한 예측선이란</a:t>
            </a:r>
            <a:r>
              <a:rPr lang="en-US" altLang="ko-KR" sz="2600" dirty="0"/>
              <a:t>?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098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가장 훌륭한 예측선이란</a:t>
            </a:r>
            <a:r>
              <a:rPr lang="en-US" altLang="ko-KR" dirty="0">
                <a:latin typeface="KoPub돋움체_Pro Bold" pitchFamily="18" charset="-127"/>
                <a:ea typeface="KoPub돋움체_Pro Bold" pitchFamily="18" charset="-127"/>
              </a:rPr>
              <a:t>?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가장 훌륭한 예측선이란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?</a:t>
            </a:r>
          </a:p>
          <a:p>
            <a:pPr lvl="1"/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다음과 같이 중간고사를 본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명의 학생에게 각각 공부한 시간을 물어보고 이들의 중간고사 성적을 다음과 같이 정리했다</a:t>
            </a:r>
            <a:endParaRPr lang="en-US" altLang="ko-KR" sz="1400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공부 시간만 보고 시험 점수를 예측하는 것이 우리의 목표이다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공부 시간과 </a:t>
            </a:r>
            <a:r>
              <a:rPr lang="ko-KR" altLang="en-US" sz="1400" dirty="0" err="1">
                <a:latin typeface="KoPub돋움체_Pro Light" pitchFamily="18" charset="-127"/>
                <a:ea typeface="KoPub돋움체_Pro Light" pitchFamily="18" charset="-127"/>
              </a:rPr>
              <a:t>점수간에는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 어떠한 상관관계가 있는 지 확인하기 위해 </a:t>
            </a:r>
            <a:r>
              <a:rPr lang="ko-KR" altLang="en-US" sz="1400" dirty="0" err="1">
                <a:latin typeface="KoPub돋움체_Pro Light" pitchFamily="18" charset="-127"/>
                <a:ea typeface="KoPub돋움체_Pro Light" pitchFamily="18" charset="-127"/>
              </a:rPr>
              <a:t>좌표평면상에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 펼쳐 놓은 것이다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분포를 보면 시간이 적으면 점수가 낮고 높으면 점수가 높은 걸 알 수 있다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점들이 가지는 특징을 선으로 잘 그려 놓아야 한다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평면에 없는 시간에 대한 점수를 예측할 수 있다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적절한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값과 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sz="1400" dirty="0">
                <a:latin typeface="KoPub돋움체_Pro Light" pitchFamily="18" charset="-127"/>
                <a:ea typeface="KoPub돋움체_Pro Light" pitchFamily="18" charset="-127"/>
              </a:rPr>
              <a:t>값을 찾아서 적절한 선을 그어주는 것이 목표이다</a:t>
            </a:r>
            <a:r>
              <a:rPr lang="en-US" altLang="ko-KR" sz="1400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833575-5F8E-48F0-87B6-A7AC42094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8" y="4005070"/>
            <a:ext cx="3889242" cy="6849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788D0D1-13A9-F4CF-5D46-845137DEC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8" y="4696354"/>
            <a:ext cx="3629240" cy="21084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E82A49-8905-A348-99FF-146529FFB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643" y="4638747"/>
            <a:ext cx="3565449" cy="21608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78A22B-155B-049B-D4B0-6720BC0DC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782" y="4120284"/>
            <a:ext cx="101917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8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3 </a:t>
            </a:r>
            <a:r>
              <a:rPr lang="ko-KR" altLang="en-US" sz="2600" dirty="0"/>
              <a:t>최소 </a:t>
            </a:r>
            <a:r>
              <a:rPr lang="ko-KR" altLang="en-US" sz="2600" dirty="0" err="1"/>
              <a:t>제곱법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67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최소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제곱법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최소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제곱법</a:t>
            </a:r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구해야 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최소제곱법을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이용하면 쉽게 구할 수 있다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Font typeface="Wingdings" panose="05000000000000000000" pitchFamily="2" charset="2"/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공부한 시간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(x)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평균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(2 + 4 + 6 + 8) ÷ 4 = 5</a:t>
            </a:r>
          </a:p>
          <a:p>
            <a:pPr marL="334963" lvl="1" indent="0">
              <a:buFont typeface="Wingdings" panose="05000000000000000000" pitchFamily="2" charset="2"/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성적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(y)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평균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(81+ 93 + 91 + 97) ÷ 4 = 90.5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51B8AC-4A3B-4EAC-BC3D-699ED8524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871" y="2161646"/>
            <a:ext cx="5191125" cy="6000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2815DF-54CE-50FF-58EE-729FECAE6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3544214"/>
            <a:ext cx="6229350" cy="1257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433B66-0406-9E60-CE44-7BCEE387B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12" y="4912075"/>
            <a:ext cx="5372100" cy="4000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C04921-9054-CA6C-9DC2-AD5376F6AE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5335058"/>
            <a:ext cx="1733550" cy="6286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6FB324-24CA-E406-C5C7-E7ED1C756A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572" y="6100714"/>
            <a:ext cx="1266825" cy="323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5D2813-7884-CBE6-7FBB-CBD3E77CEA0C}"/>
              </a:ext>
            </a:extLst>
          </p:cNvPr>
          <p:cNvSpPr txBox="1"/>
          <p:nvPr/>
        </p:nvSpPr>
        <p:spPr>
          <a:xfrm>
            <a:off x="942759" y="6078922"/>
            <a:ext cx="5791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그러므로 우리가 구하려는 식은                            가 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419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최소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제곱법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최소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제곱법</a:t>
            </a:r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최적의 선인지를 확인하기 위서 값을 대입해 보면 다음과 같이 예측 값이 찍힌다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 값에 따라 선들을 이어보면 오른쪽 그래프와 같이 최적의 선이 되어 시간에 따라 예측 값을 알 수 있게 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60113E-DF1D-43D5-BE2C-0DAB1A9AA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10" y="3083358"/>
            <a:ext cx="3636354" cy="23147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9D86C21-FDB8-B92B-403A-8C4BDF0FEF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21" y="3083358"/>
            <a:ext cx="3594266" cy="23147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416256D-04C9-6BB7-8A49-9A7B187EA5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2162067"/>
            <a:ext cx="4754822" cy="81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0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734201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가장 훌륭한 예측선이란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?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만약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두 개이면                         과 같은 식이 만들어 질 것이다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그리고 암환자의 데이터 같은 경우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17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개가 되어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 만큼 더해야 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그래서 팀 러닝은 다음과 같은 과정을 반복하는데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오차가 적어질 때까지 수정을 해 나간다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오차란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실제값과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예측값의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차이를 말하는 것이다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오차를 알기 위해서 사용하는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평균제곱오차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E1AA19-8D16-5BBD-EA43-6C7DD75FD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25" y="1873611"/>
            <a:ext cx="1733550" cy="2762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E4F0A44-9072-088C-70D3-E8524F380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685" y="2558485"/>
            <a:ext cx="3189432" cy="2184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81847E-EDFD-01B8-145A-B94CCC058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80" y="3281318"/>
            <a:ext cx="2707529" cy="1069394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CA196580-9A50-A505-5960-D35057FCB239}"/>
              </a:ext>
            </a:extLst>
          </p:cNvPr>
          <p:cNvSpPr txBox="1">
            <a:spLocks/>
          </p:cNvSpPr>
          <p:nvPr/>
        </p:nvSpPr>
        <p:spPr>
          <a:xfrm>
            <a:off x="481903" y="669638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최소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제곱법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50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4 </a:t>
            </a:r>
            <a:r>
              <a:rPr lang="ko-KR" altLang="en-US" sz="2600" dirty="0"/>
              <a:t>평균 제곱 오차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28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5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평균 제곱 오차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4" y="1459935"/>
            <a:ext cx="8105497" cy="5540699"/>
          </a:xfrm>
        </p:spPr>
        <p:txBody>
          <a:bodyPr>
            <a:normAutofit lnSpcReduction="10000"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평균 제곱 오차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(Mean Square Error, MSE)</a:t>
            </a:r>
            <a:endParaRPr lang="ko-KR" altLang="en-US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기울기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절편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임의의 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76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가정할 때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 = 3x + 76</a:t>
            </a:r>
            <a:r>
              <a:rPr lang="ko-KR" altLang="en-US" dirty="0"/>
              <a:t>식이 되고 오차는 다음 표와 같게 된다</a:t>
            </a:r>
            <a:r>
              <a:rPr lang="en-US" altLang="ko-KR" dirty="0"/>
              <a:t>.</a:t>
            </a: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해서 구한 오차를 모두 더하면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 + (-5) + 3 + 3 = 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/>
              <a:t>그런데 여기서 </a:t>
            </a:r>
            <a:r>
              <a:rPr lang="en-US" altLang="ko-KR" dirty="0"/>
              <a:t>+</a:t>
            </a:r>
            <a:r>
              <a:rPr lang="ko-KR" altLang="en-US" dirty="0"/>
              <a:t>와 </a:t>
            </a:r>
            <a:r>
              <a:rPr lang="en-US" altLang="ko-KR" dirty="0"/>
              <a:t>–</a:t>
            </a:r>
            <a:r>
              <a:rPr lang="ko-KR" altLang="en-US" dirty="0"/>
              <a:t>의 값이 서로 같다면 </a:t>
            </a:r>
            <a:r>
              <a:rPr lang="en-US" altLang="ko-KR" dirty="0"/>
              <a:t>0</a:t>
            </a:r>
            <a:r>
              <a:rPr lang="ko-KR" altLang="en-US" dirty="0"/>
              <a:t>이 나오므로 오차가 얼마가 되는지 모른다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그래서 오차를 제곱해서 더하는 방법을 사용한다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식으로 오차의 합을 다시 계산하면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 + 25 + 9 + 9 = 44</a:t>
            </a:r>
          </a:p>
          <a:p>
            <a:pPr lvl="1"/>
            <a:r>
              <a:rPr lang="ko-KR" altLang="en-US" dirty="0" err="1"/>
              <a:t>평균제곱오차</a:t>
            </a:r>
            <a:r>
              <a:rPr lang="ko-KR" altLang="en-US" dirty="0"/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MSE = 44/4 = 11 </a:t>
            </a:r>
          </a:p>
          <a:p>
            <a:pPr lvl="1"/>
            <a:r>
              <a:rPr lang="ko-KR" altLang="en-US" dirty="0" err="1"/>
              <a:t>평균제곱오차가</a:t>
            </a:r>
            <a:r>
              <a:rPr lang="ko-KR" altLang="en-US" dirty="0"/>
              <a:t> 가장 작아질 때까지 </a:t>
            </a:r>
            <a:r>
              <a:rPr lang="en-US" altLang="ko-KR" dirty="0"/>
              <a:t>a</a:t>
            </a:r>
            <a:r>
              <a:rPr lang="ko-KR" altLang="en-US" dirty="0"/>
              <a:t>값과 </a:t>
            </a:r>
            <a:r>
              <a:rPr lang="en-US" altLang="ko-KR" dirty="0"/>
              <a:t>b</a:t>
            </a:r>
            <a:r>
              <a:rPr lang="ko-KR" altLang="en-US" dirty="0"/>
              <a:t>값을 바꿔주게 된다</a:t>
            </a:r>
            <a:r>
              <a:rPr lang="en-US" altLang="ko-KR" dirty="0"/>
              <a:t>.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  <a:p>
            <a:pPr lvl="1"/>
            <a:endParaRPr lang="en-US" altLang="ko-KR" b="1" dirty="0">
              <a:latin typeface="KoPub돋움체_Pro Bold" pitchFamily="18" charset="-127"/>
              <a:ea typeface="KoPub돋움체_Pro Bold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11F611-991E-456A-8E77-FD92A6F01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19" y="2690620"/>
            <a:ext cx="4495800" cy="13144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4563AE-C73E-C6CC-D104-0E95D648C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26" y="2392074"/>
            <a:ext cx="1952625" cy="3333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60E813-F7C8-75FE-68BD-23BFFEE41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5208948"/>
            <a:ext cx="31623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507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</TotalTime>
  <Words>552</Words>
  <Application>Microsoft Office PowerPoint</Application>
  <PresentationFormat>화면 슬라이드 쇼(4:3)</PresentationFormat>
  <Paragraphs>92</Paragraphs>
  <Slides>12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KoPub돋움체_Pro Bold</vt:lpstr>
      <vt:lpstr>KoPub돋움체_Pro Light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1 선형 회귀의 정의</vt:lpstr>
      <vt:lpstr>PowerPoint 프레젠테이션</vt:lpstr>
      <vt:lpstr>2 가장 훌륭한 예측선이란?</vt:lpstr>
      <vt:lpstr>2 가장 훌륭한 예측선이란?</vt:lpstr>
      <vt:lpstr>3 최소 제곱법</vt:lpstr>
      <vt:lpstr>3 최소 제곱법</vt:lpstr>
      <vt:lpstr>3 최소 제곱법</vt:lpstr>
      <vt:lpstr>PowerPoint 프레젠테이션</vt:lpstr>
      <vt:lpstr>4 평균 제곱 오차</vt:lpstr>
      <vt:lpstr>5 평균 제곱 오차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297</cp:revision>
  <cp:lastPrinted>2016-08-10T06:58:55Z</cp:lastPrinted>
  <dcterms:created xsi:type="dcterms:W3CDTF">2013-04-05T19:58:06Z</dcterms:created>
  <dcterms:modified xsi:type="dcterms:W3CDTF">2025-06-20T06:36:48Z</dcterms:modified>
</cp:coreProperties>
</file>