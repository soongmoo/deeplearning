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13"/>
  </p:notesMasterIdLst>
  <p:handoutMasterIdLst>
    <p:handoutMasterId r:id="rId14"/>
  </p:handoutMasterIdLst>
  <p:sldIdLst>
    <p:sldId id="267" r:id="rId3"/>
    <p:sldId id="270" r:id="rId4"/>
    <p:sldId id="272" r:id="rId5"/>
    <p:sldId id="277" r:id="rId6"/>
    <p:sldId id="282" r:id="rId7"/>
    <p:sldId id="283" r:id="rId8"/>
    <p:sldId id="287" r:id="rId9"/>
    <p:sldId id="291" r:id="rId10"/>
    <p:sldId id="295" r:id="rId11"/>
    <p:sldId id="311" r:id="rId12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7" d="100"/>
          <a:sy n="107" d="100"/>
        </p:scale>
        <p:origin x="1728" y="45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둘째마당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예측 모델의 기본 원리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6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로지스틱 회귀 모델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: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참 거짓 판단하기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216241" y="1180326"/>
            <a:ext cx="6844683" cy="14251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3086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로지스틱 회귀의 정의 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시그모이드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함수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오차 공식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로그 함수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5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텐서플로에서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실행하는 로지스틱 회귀 모델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로지스틱 회귀의 정의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로지스틱 회귀의 정의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로지스틱 회귀의 정의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325D2B-6D4E-4595-A712-6750848325DB}"/>
              </a:ext>
            </a:extLst>
          </p:cNvPr>
          <p:cNvSpPr txBox="1">
            <a:spLocks/>
          </p:cNvSpPr>
          <p:nvPr/>
        </p:nvSpPr>
        <p:spPr>
          <a:xfrm>
            <a:off x="597117" y="1818891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표 </a:t>
            </a:r>
            <a:r>
              <a:rPr lang="en-US" altLang="ko-KR" sz="1600" b="1" dirty="0"/>
              <a:t>6-1 | </a:t>
            </a:r>
            <a:r>
              <a:rPr lang="ko-KR" altLang="en-US" sz="1600" b="1" dirty="0"/>
              <a:t>공부한 시간에 따른 합격 여부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CC8A74-A0F7-4996-88B7-A50F97855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2148080"/>
            <a:ext cx="6219825" cy="7048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539881C-B6A4-8CA3-57BC-7D4ECEEE5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393" y="3023086"/>
            <a:ext cx="3562350" cy="1838325"/>
          </a:xfrm>
          <a:prstGeom prst="rect">
            <a:avLst/>
          </a:prstGeom>
        </p:spPr>
      </p:pic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2C6ADB1E-3666-CC13-9423-666CCA982E8D}"/>
              </a:ext>
            </a:extLst>
          </p:cNvPr>
          <p:cNvSpPr txBox="1">
            <a:spLocks/>
          </p:cNvSpPr>
          <p:nvPr/>
        </p:nvSpPr>
        <p:spPr>
          <a:xfrm>
            <a:off x="496781" y="4926782"/>
            <a:ext cx="8105496" cy="14401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합격을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불합격을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하고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좌표 평면에 표현하면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이점들의 특성은 직선을 그을 수가 없다는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것다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점들은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사이의 값이 없으므로 직선으로 그리기가 어려워졌다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               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식을 쓸 수 없다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점들의 특성을 정확하게 담아내려면 직선이 아니라 다음과 같이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 형태여야 함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4B1E98B-3790-7276-0CB2-22E899060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3020868"/>
            <a:ext cx="3552825" cy="17907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73E98F2-11EA-A8F4-EB86-F07A994A3D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5733280"/>
            <a:ext cx="16383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04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시그모이드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함수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3072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시그모이드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 함수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시그모이드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함수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 형태로 그래프가 그려지는 함수가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시그모이드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함수를 이용해 로지스틱 회귀를 풀어 나가는 공식은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               e = 2.71828…(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무리수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 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자연상수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0~1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사이의 값을 구할 수 있는 함수이다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보다 무한히 작은 값을 가지면 결과는 결국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되고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보다 무한히 커지면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되어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우리가 구해야 하는 값이 결국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ax + 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것이므로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대신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ax + 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대입하면 결국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–(ax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+b)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되어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ax + 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구할 수 있게 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그래프에서 빨간 선의 수직에 가까운 기울기를 구하게 된다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0E6E98-4397-E70C-0B49-2BF8588A3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109" y="4643846"/>
            <a:ext cx="3562350" cy="18383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52BA8BF-8857-1BB9-AACC-BA8156E58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794" y="2499880"/>
            <a:ext cx="1152140" cy="3530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46856F5-B965-8009-6128-1AFAAF160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86" y="3189622"/>
            <a:ext cx="310754" cy="214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8B39869-F16B-4BEF-8E69-93A42A79E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140" y="5161323"/>
            <a:ext cx="13906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4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시그모이드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 함수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0C7C04D-D736-4DFE-AE6E-2200CADA8B77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en-US" altLang="ko-KR" sz="1600" dirty="0"/>
              <a:t> 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68F0EE-B68B-486C-BC12-002F36832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319" y="2098265"/>
            <a:ext cx="2075961" cy="218674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5D835E8-7E3E-FAEB-254C-AAC6B647E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891" y="4696354"/>
            <a:ext cx="2846594" cy="202731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B23552A-C03D-C779-894A-8A1A3B144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008" y="2392074"/>
            <a:ext cx="3158644" cy="157932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C09E16-8887-122E-1B17-E0982E20E2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401" y="4638747"/>
            <a:ext cx="3600450" cy="1857375"/>
          </a:xfrm>
          <a:prstGeom prst="rect">
            <a:avLst/>
          </a:prstGeom>
        </p:spPr>
      </p:pic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B590EE40-5EE9-F899-A184-D4600792D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387" y="1297541"/>
            <a:ext cx="8105496" cy="1036926"/>
          </a:xfrm>
        </p:spPr>
        <p:txBody>
          <a:bodyPr/>
          <a:lstStyle/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그래프의 경사도를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커지면 경사가 커지고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작아지면 경사가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작아짐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그래프의 좌우 이동을 의미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(b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크고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작아짐에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따라 그래프가 이동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</a:p>
          <a:p>
            <a:pPr marL="334963" lvl="1" indent="0">
              <a:buNone/>
            </a:pP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EBB2A3-734C-B0B5-AD89-67899CB8D74F}"/>
              </a:ext>
            </a:extLst>
          </p:cNvPr>
          <p:cNvSpPr txBox="1"/>
          <p:nvPr/>
        </p:nvSpPr>
        <p:spPr>
          <a:xfrm>
            <a:off x="4860035" y="4235498"/>
            <a:ext cx="42803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</a:t>
            </a:r>
            <a:r>
              <a:rPr lang="ko-KR" altLang="en-US" sz="1100" dirty="0"/>
              <a:t>값이 </a:t>
            </a:r>
            <a:r>
              <a:rPr lang="en-US" altLang="ko-KR" sz="1100" dirty="0"/>
              <a:t>0 </a:t>
            </a:r>
            <a:r>
              <a:rPr lang="ko-KR" altLang="en-US" sz="1100" dirty="0"/>
              <a:t>에 가까우면 </a:t>
            </a:r>
            <a:r>
              <a:rPr lang="ko-KR" altLang="en-US" sz="1100" dirty="0" err="1"/>
              <a:t>시그모이드</a:t>
            </a:r>
            <a:r>
              <a:rPr lang="ko-KR" altLang="en-US" sz="1100" dirty="0"/>
              <a:t> 그래프는 수평이 되어 오차가 커짐</a:t>
            </a:r>
            <a:endParaRPr lang="en-US" altLang="ko-KR" sz="1100" dirty="0"/>
          </a:p>
          <a:p>
            <a:r>
              <a:rPr lang="en-US" altLang="ko-KR" sz="1100" dirty="0"/>
              <a:t>a</a:t>
            </a:r>
            <a:r>
              <a:rPr lang="ko-KR" altLang="en-US" sz="1100" dirty="0"/>
              <a:t>값이 무한히 커져도 오차가  커지지 않는다는 것을 알 수 있다</a:t>
            </a:r>
          </a:p>
        </p:txBody>
      </p:sp>
    </p:spTree>
    <p:extLst>
      <p:ext uri="{BB962C8B-B14F-4D97-AF65-F5344CB8AC3E}">
        <p14:creationId xmlns:p14="http://schemas.microsoft.com/office/powerpoint/2010/main" val="349541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오차 공식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867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오차 공식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로지스틱 회기의 손실함수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F5CD61B-942F-473A-9EF7-ABA85B19C025}"/>
              </a:ext>
            </a:extLst>
          </p:cNvPr>
          <p:cNvSpPr txBox="1">
            <a:spLocks/>
          </p:cNvSpPr>
          <p:nvPr/>
        </p:nvSpPr>
        <p:spPr>
          <a:xfrm>
            <a:off x="597117" y="1934105"/>
            <a:ext cx="8081453" cy="45796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실제 값이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일 때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파란색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와 </a:t>
            </a:r>
            <a:r>
              <a:rPr lang="en-US" altLang="ko-KR" sz="1600" b="1" dirty="0"/>
              <a:t>0</a:t>
            </a:r>
            <a:r>
              <a:rPr lang="ko-KR" altLang="en-US" sz="1600" b="1" dirty="0"/>
              <a:t>일 때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빨간색</a:t>
            </a:r>
            <a:r>
              <a:rPr lang="en-US" altLang="ko-KR" sz="1600" b="1" dirty="0"/>
              <a:t>) </a:t>
            </a:r>
            <a:r>
              <a:rPr lang="ko-KR" altLang="en-US" sz="1600" b="1" dirty="0"/>
              <a:t>로그 함수 그래프</a:t>
            </a:r>
            <a:endParaRPr lang="en-US" altLang="ko-KR" sz="16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581390-CA42-4DD3-BBA5-522284A38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688" y="2219253"/>
            <a:ext cx="3213051" cy="222324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E6F3B8-7CE6-DBD7-7FE7-B8DDF17FB1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509" y="4553062"/>
            <a:ext cx="2647950" cy="6572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621AE3-A5EA-F1AE-9EE9-D392AA0AF2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906" y="2292726"/>
            <a:ext cx="1277642" cy="518463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759DE590-A570-A73C-349B-3B53BB228BD3}"/>
              </a:ext>
            </a:extLst>
          </p:cNvPr>
          <p:cNvSpPr txBox="1">
            <a:spLocks/>
          </p:cNvSpPr>
          <p:nvPr/>
        </p:nvSpPr>
        <p:spPr>
          <a:xfrm>
            <a:off x="3697049" y="4470139"/>
            <a:ext cx="2084061" cy="5184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en-US" sz="1600" b="1" dirty="0"/>
              <a:t>손실 함수 </a:t>
            </a:r>
            <a:r>
              <a:rPr lang="en-US" altLang="ko-KR" sz="1600" b="1" dirty="0"/>
              <a:t>- </a:t>
            </a:r>
          </a:p>
          <a:p>
            <a:r>
              <a:rPr lang="ko-KR" altLang="en-US" sz="1600" b="1" dirty="0" err="1"/>
              <a:t>교차엔트로피</a:t>
            </a:r>
            <a:r>
              <a:rPr lang="ko-KR" altLang="en-US" sz="1600" b="1" dirty="0"/>
              <a:t> 오차</a:t>
            </a:r>
            <a:endParaRPr lang="en-US" altLang="ko-KR" sz="1600" b="1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0881AA31-0335-C8D8-48A4-F4CD305A3DE5}"/>
              </a:ext>
            </a:extLst>
          </p:cNvPr>
          <p:cNvSpPr txBox="1">
            <a:spLocks/>
          </p:cNvSpPr>
          <p:nvPr/>
        </p:nvSpPr>
        <p:spPr>
          <a:xfrm>
            <a:off x="251475" y="2622502"/>
            <a:ext cx="8105496" cy="4090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경사하강법을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이용하여 오차함수 구함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파란색 선은 실제 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 때 사용할 수 있는 그래프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예측 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 때 오차가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반대로 예측 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가까울수록 오차는 커짐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빨간색 선은 반대로 실제 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 때 사용할 수 있는 함수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예측 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 때 오차가 없고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가까워질수록 오차가 매우 커짐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88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오차 공식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=ax + 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가설 함수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=&gt; H(x)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+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w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가중치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편향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평균 제곱 오차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=&gt;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손실함수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(loss function)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경사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하강법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=&gt;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옵티마이져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(optimizer)</a:t>
            </a:r>
          </a:p>
        </p:txBody>
      </p:sp>
    </p:spTree>
    <p:extLst>
      <p:ext uri="{BB962C8B-B14F-4D97-AF65-F5344CB8AC3E}">
        <p14:creationId xmlns:p14="http://schemas.microsoft.com/office/powerpoint/2010/main" val="31440155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2515</TotalTime>
  <Words>417</Words>
  <Application>Microsoft Office PowerPoint</Application>
  <PresentationFormat>화면 슬라이드 쇼(4:3)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PowerPoint 프레젠테이션</vt:lpstr>
      <vt:lpstr>1 로지스틱 회귀의 정의</vt:lpstr>
      <vt:lpstr>PowerPoint 프레젠테이션</vt:lpstr>
      <vt:lpstr>2 시그모이드 함수</vt:lpstr>
      <vt:lpstr>2 시그모이드 함수</vt:lpstr>
      <vt:lpstr>PowerPoint 프레젠테이션</vt:lpstr>
      <vt:lpstr>3 오차 공식</vt:lpstr>
      <vt:lpstr>3 오차 공식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350</cp:revision>
  <cp:lastPrinted>2016-08-10T06:58:55Z</cp:lastPrinted>
  <dcterms:created xsi:type="dcterms:W3CDTF">2013-04-05T19:58:06Z</dcterms:created>
  <dcterms:modified xsi:type="dcterms:W3CDTF">2025-06-20T08:22:32Z</dcterms:modified>
</cp:coreProperties>
</file>